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91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Lost revenue</c:v>
                </c:pt>
              </c:strCache>
            </c:strRef>
          </c:tx>
          <c:spPr>
            <a:solidFill>
              <a:srgbClr val="C1442E"/>
            </a:solidFill>
            <a:effectLst/>
          </c:spPr>
          <c:invertIfNegative val="0"/>
          <c:dLbls>
            <c:numFmt formatCode="#,##0" sourceLinked="0"/>
            <c:spPr>
              <a:noFill/>
              <a:ln>
                <a:noFill/>
              </a:ln>
              <a:effectLst/>
            </c:spPr>
            <c:txPr>
              <a:bodyPr/>
              <a:lstStyle/>
              <a:p>
                <a:pPr>
                  <a:defRPr sz="1100" b="0" i="0" u="none" strike="noStrike">
                    <a:solidFill>
                      <a:srgbClr val="1226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Out of stock</c:v>
                </c:pt>
                <c:pt idx="1">
                  <c:v>Returned after delivery</c:v>
                </c:pt>
                <c:pt idx="2">
                  <c:v>Payment failed</c:v>
                </c:pt>
              </c:strCache>
            </c:strRef>
          </c:cat>
          <c:val>
            <c:numRef>
              <c:f>Sheet1!$B$2:$B$4</c:f>
              <c:numCache>
                <c:formatCode>General</c:formatCode>
                <c:ptCount val="3"/>
                <c:pt idx="0">
                  <c:v>11821</c:v>
                </c:pt>
                <c:pt idx="1">
                  <c:v>94396</c:v>
                </c:pt>
                <c:pt idx="2">
                  <c:v>161172</c:v>
                </c:pt>
              </c:numCache>
            </c:numRef>
          </c:val>
          <c:extLst>
            <c:ext xmlns:c16="http://schemas.microsoft.com/office/drawing/2014/chart" uri="{C3380CC4-5D6E-409C-BE32-E72D297353CC}">
              <c16:uniqueId val="{00000000-56F6-4C5B-B6F0-F0E1C52A55F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D"/>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Electronics share</c:v>
                </c:pt>
              </c:strCache>
            </c:strRef>
          </c:tx>
          <c:spPr>
            <a:solidFill>
              <a:srgbClr val="11828A"/>
            </a:solidFill>
            <a:effectLst/>
          </c:spPr>
          <c:invertIfNegative val="0"/>
          <c:dLbls>
            <c:numFmt formatCode="0.0&quot;%&quot;" sourceLinked="0"/>
            <c:spPr>
              <a:noFill/>
              <a:ln>
                <a:noFill/>
              </a:ln>
              <a:effectLst/>
            </c:spPr>
            <c:txPr>
              <a:bodyPr/>
              <a:lstStyle/>
              <a:p>
                <a:pPr>
                  <a:defRPr sz="1100" b="0" i="0" u="none" strike="noStrike">
                    <a:solidFill>
                      <a:srgbClr val="1226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Share of stock capital</c:v>
                </c:pt>
                <c:pt idx="1">
                  <c:v>Share of abandoned value</c:v>
                </c:pt>
                <c:pt idx="2">
                  <c:v>Share of lost revenue</c:v>
                </c:pt>
                <c:pt idx="3">
                  <c:v>Share of GMV</c:v>
                </c:pt>
                <c:pt idx="4">
                  <c:v>Share of orders</c:v>
                </c:pt>
              </c:strCache>
            </c:strRef>
          </c:cat>
          <c:val>
            <c:numRef>
              <c:f>Sheet1!$B$2:$B$6</c:f>
              <c:numCache>
                <c:formatCode>General</c:formatCode>
                <c:ptCount val="5"/>
                <c:pt idx="0">
                  <c:v>67.7</c:v>
                </c:pt>
                <c:pt idx="1">
                  <c:v>72.3</c:v>
                </c:pt>
                <c:pt idx="2">
                  <c:v>76.7</c:v>
                </c:pt>
                <c:pt idx="3">
                  <c:v>81.400000000000006</c:v>
                </c:pt>
                <c:pt idx="4">
                  <c:v>41.8</c:v>
                </c:pt>
              </c:numCache>
            </c:numRef>
          </c:val>
          <c:extLst>
            <c:ext xmlns:c16="http://schemas.microsoft.com/office/drawing/2014/chart" uri="{C3380CC4-5D6E-409C-BE32-E72D297353CC}">
              <c16:uniqueId val="{00000000-7316-4B1B-9E49-502DF97A47FF}"/>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D"/>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Abandoned value</c:v>
                </c:pt>
              </c:strCache>
            </c:strRef>
          </c:tx>
          <c:spPr>
            <a:solidFill>
              <a:srgbClr val="E9A13B"/>
            </a:solidFill>
            <a:effectLst/>
          </c:spPr>
          <c:invertIfNegative val="0"/>
          <c:dLbls>
            <c:numFmt formatCode="#,##0" sourceLinked="0"/>
            <c:spPr>
              <a:noFill/>
              <a:ln>
                <a:noFill/>
              </a:ln>
              <a:effectLst/>
            </c:spPr>
            <c:txPr>
              <a:bodyPr/>
              <a:lstStyle/>
              <a:p>
                <a:pPr>
                  <a:defRPr sz="1100" b="0" i="0" u="none" strike="noStrike">
                    <a:solidFill>
                      <a:srgbClr val="1226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Books</c:v>
                </c:pt>
                <c:pt idx="1">
                  <c:v>Beauty</c:v>
                </c:pt>
                <c:pt idx="2">
                  <c:v>Sports</c:v>
                </c:pt>
                <c:pt idx="3">
                  <c:v>Home &amp; Kitchen</c:v>
                </c:pt>
                <c:pt idx="4">
                  <c:v>Fashion</c:v>
                </c:pt>
                <c:pt idx="5">
                  <c:v>Electronics</c:v>
                </c:pt>
              </c:strCache>
            </c:strRef>
          </c:cat>
          <c:val>
            <c:numRef>
              <c:f>Sheet1!$B$2:$B$7</c:f>
              <c:numCache>
                <c:formatCode>General</c:formatCode>
                <c:ptCount val="6"/>
                <c:pt idx="0">
                  <c:v>6141</c:v>
                </c:pt>
                <c:pt idx="1">
                  <c:v>11134</c:v>
                </c:pt>
                <c:pt idx="2">
                  <c:v>24394</c:v>
                </c:pt>
                <c:pt idx="3">
                  <c:v>60886</c:v>
                </c:pt>
                <c:pt idx="4">
                  <c:v>116765</c:v>
                </c:pt>
                <c:pt idx="5">
                  <c:v>572951</c:v>
                </c:pt>
              </c:numCache>
            </c:numRef>
          </c:val>
          <c:extLst>
            <c:ext xmlns:c16="http://schemas.microsoft.com/office/drawing/2014/chart" uri="{C3380CC4-5D6E-409C-BE32-E72D297353CC}">
              <c16:uniqueId val="{00000000-AD23-4CE6-B164-1E79E0052D1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D"/>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Failure rate %</c:v>
                </c:pt>
              </c:strCache>
            </c:strRef>
          </c:tx>
          <c:spPr>
            <a:solidFill>
              <a:srgbClr val="12263F"/>
            </a:solidFill>
            <a:effectLst/>
          </c:spPr>
          <c:invertIfNegative val="0"/>
          <c:dLbls>
            <c:numFmt formatCode="0.0&quot;%&quot;" sourceLinked="0"/>
            <c:spPr>
              <a:noFill/>
              <a:ln>
                <a:noFill/>
              </a:ln>
              <a:effectLst/>
            </c:spPr>
            <c:txPr>
              <a:bodyPr/>
              <a:lstStyle/>
              <a:p>
                <a:pPr>
                  <a:defRPr sz="1100" b="0" i="0" u="none" strike="noStrike">
                    <a:solidFill>
                      <a:srgbClr val="1226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Cashfree</c:v>
                </c:pt>
                <c:pt idx="1">
                  <c:v>Razorpay</c:v>
                </c:pt>
                <c:pt idx="2">
                  <c:v>PayU</c:v>
                </c:pt>
              </c:strCache>
            </c:strRef>
          </c:cat>
          <c:val>
            <c:numRef>
              <c:f>Sheet1!$B$2:$B$4</c:f>
              <c:numCache>
                <c:formatCode>General</c:formatCode>
                <c:ptCount val="3"/>
                <c:pt idx="0">
                  <c:v>30.9</c:v>
                </c:pt>
                <c:pt idx="1">
                  <c:v>30.9</c:v>
                </c:pt>
                <c:pt idx="2">
                  <c:v>33.1</c:v>
                </c:pt>
              </c:numCache>
            </c:numRef>
          </c:val>
          <c:extLst>
            <c:ext xmlns:c16="http://schemas.microsoft.com/office/drawing/2014/chart" uri="{C3380CC4-5D6E-409C-BE32-E72D297353CC}">
              <c16:uniqueId val="{00000000-8F19-4DFD-B161-3548752E804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D"/>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Failed attempts</c:v>
                </c:pt>
              </c:strCache>
            </c:strRef>
          </c:tx>
          <c:spPr>
            <a:solidFill>
              <a:srgbClr val="6B7A8C"/>
            </a:solidFill>
            <a:effectLst/>
          </c:spPr>
          <c:invertIfNegative val="0"/>
          <c:dLbls>
            <c:numFmt formatCode="#,##0" sourceLinked="0"/>
            <c:spPr>
              <a:noFill/>
              <a:ln>
                <a:noFill/>
              </a:ln>
              <a:effectLst/>
            </c:spPr>
            <c:txPr>
              <a:bodyPr/>
              <a:lstStyle/>
              <a:p>
                <a:pPr>
                  <a:defRPr sz="1100" b="0" i="0" u="none" strike="noStrike">
                    <a:solidFill>
                      <a:srgbClr val="1226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Bank declined</c:v>
                </c:pt>
                <c:pt idx="1">
                  <c:v>Invalid CVV</c:v>
                </c:pt>
                <c:pt idx="2">
                  <c:v>UPI expired</c:v>
                </c:pt>
                <c:pt idx="3">
                  <c:v>Gateway timeout</c:v>
                </c:pt>
                <c:pt idx="4">
                  <c:v>Insufficient funds</c:v>
                </c:pt>
                <c:pt idx="5">
                  <c:v>Network error</c:v>
                </c:pt>
              </c:strCache>
            </c:strRef>
          </c:cat>
          <c:val>
            <c:numRef>
              <c:f>Sheet1!$B$2:$B$7</c:f>
              <c:numCache>
                <c:formatCode>General</c:formatCode>
                <c:ptCount val="6"/>
                <c:pt idx="0">
                  <c:v>20</c:v>
                </c:pt>
                <c:pt idx="1">
                  <c:v>19</c:v>
                </c:pt>
                <c:pt idx="2">
                  <c:v>17</c:v>
                </c:pt>
                <c:pt idx="3">
                  <c:v>16</c:v>
                </c:pt>
                <c:pt idx="4">
                  <c:v>16</c:v>
                </c:pt>
                <c:pt idx="5">
                  <c:v>14</c:v>
                </c:pt>
              </c:numCache>
            </c:numRef>
          </c:val>
          <c:extLst>
            <c:ext xmlns:c16="http://schemas.microsoft.com/office/drawing/2014/chart" uri="{C3380CC4-5D6E-409C-BE32-E72D297353CC}">
              <c16:uniqueId val="{00000000-EC7F-4522-A7EE-015C6A3F381A}"/>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D"/>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Caught by rules %</c:v>
                </c:pt>
              </c:strCache>
            </c:strRef>
          </c:tx>
          <c:spPr>
            <a:solidFill>
              <a:srgbClr val="6B7A8C"/>
            </a:solidFill>
            <a:effectLst/>
          </c:spPr>
          <c:invertIfNegative val="0"/>
          <c:dPt>
            <c:idx val="0"/>
            <c:invertIfNegative val="0"/>
            <c:bubble3D val="0"/>
            <c:extLst>
              <c:ext xmlns:c16="http://schemas.microsoft.com/office/drawing/2014/chart" uri="{C3380CC4-5D6E-409C-BE32-E72D297353CC}">
                <c16:uniqueId val="{00000001-5618-4C00-9D7C-BF33720D3D4E}"/>
              </c:ext>
            </c:extLst>
          </c:dPt>
          <c:dPt>
            <c:idx val="1"/>
            <c:invertIfNegative val="0"/>
            <c:bubble3D val="0"/>
            <c:spPr>
              <a:solidFill>
                <a:srgbClr val="2E7D52"/>
              </a:solidFill>
              <a:effectLst/>
            </c:spPr>
            <c:extLst>
              <c:ext xmlns:c16="http://schemas.microsoft.com/office/drawing/2014/chart" uri="{C3380CC4-5D6E-409C-BE32-E72D297353CC}">
                <c16:uniqueId val="{00000003-5618-4C00-9D7C-BF33720D3D4E}"/>
              </c:ext>
            </c:extLst>
          </c:dPt>
          <c:dPt>
            <c:idx val="2"/>
            <c:invertIfNegative val="0"/>
            <c:bubble3D val="0"/>
            <c:spPr>
              <a:solidFill>
                <a:srgbClr val="2E7D52"/>
              </a:solidFill>
              <a:effectLst/>
            </c:spPr>
            <c:extLst>
              <c:ext xmlns:c16="http://schemas.microsoft.com/office/drawing/2014/chart" uri="{C3380CC4-5D6E-409C-BE32-E72D297353CC}">
                <c16:uniqueId val="{00000005-5618-4C00-9D7C-BF33720D3D4E}"/>
              </c:ext>
            </c:extLst>
          </c:dPt>
          <c:dPt>
            <c:idx val="3"/>
            <c:invertIfNegative val="0"/>
            <c:bubble3D val="0"/>
            <c:spPr>
              <a:solidFill>
                <a:srgbClr val="2E7D52"/>
              </a:solidFill>
              <a:effectLst/>
            </c:spPr>
            <c:extLst>
              <c:ext xmlns:c16="http://schemas.microsoft.com/office/drawing/2014/chart" uri="{C3380CC4-5D6E-409C-BE32-E72D297353CC}">
                <c16:uniqueId val="{00000007-5618-4C00-9D7C-BF33720D3D4E}"/>
              </c:ext>
            </c:extLst>
          </c:dPt>
          <c:dPt>
            <c:idx val="4"/>
            <c:invertIfNegative val="0"/>
            <c:bubble3D val="0"/>
            <c:spPr>
              <a:solidFill>
                <a:srgbClr val="2E7D52"/>
              </a:solidFill>
              <a:effectLst/>
            </c:spPr>
            <c:extLst>
              <c:ext xmlns:c16="http://schemas.microsoft.com/office/drawing/2014/chart" uri="{C3380CC4-5D6E-409C-BE32-E72D297353CC}">
                <c16:uniqueId val="{00000009-5618-4C00-9D7C-BF33720D3D4E}"/>
              </c:ext>
            </c:extLst>
          </c:dPt>
          <c:dLbls>
            <c:numFmt formatCode="0.0&quot;%&quot;" sourceLinked="0"/>
            <c:spPr>
              <a:noFill/>
              <a:ln>
                <a:noFill/>
              </a:ln>
              <a:effectLst/>
            </c:spPr>
            <c:txPr>
              <a:bodyPr/>
              <a:lstStyle/>
              <a:p>
                <a:pPr>
                  <a:defRPr sz="1100" b="0" i="0" u="none" strike="noStrike">
                    <a:solidFill>
                      <a:srgbClr val="1226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Not fraud (232)</c:v>
                </c:pt>
                <c:pt idx="1">
                  <c:v>High value (2)</c:v>
                </c:pt>
                <c:pt idx="2">
                  <c:v>Failed then success (3)</c:v>
                </c:pt>
                <c:pt idx="3">
                  <c:v>Repeated failure (3)</c:v>
                </c:pt>
                <c:pt idx="4">
                  <c:v>Method cycling (5)</c:v>
                </c:pt>
              </c:strCache>
            </c:strRef>
          </c:cat>
          <c:val>
            <c:numRef>
              <c:f>Sheet1!$B$2:$B$6</c:f>
              <c:numCache>
                <c:formatCode>General</c:formatCode>
                <c:ptCount val="5"/>
                <c:pt idx="0">
                  <c:v>0.4</c:v>
                </c:pt>
                <c:pt idx="1">
                  <c:v>100</c:v>
                </c:pt>
                <c:pt idx="2">
                  <c:v>100</c:v>
                </c:pt>
                <c:pt idx="3">
                  <c:v>100</c:v>
                </c:pt>
                <c:pt idx="4">
                  <c:v>100</c:v>
                </c:pt>
              </c:numCache>
            </c:numRef>
          </c:val>
          <c:extLst>
            <c:ext xmlns:c16="http://schemas.microsoft.com/office/drawing/2014/chart" uri="{C3380CC4-5D6E-409C-BE32-E72D297353CC}">
              <c16:uniqueId val="{0000000A-5618-4C00-9D7C-BF33720D3D4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D"/>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2263F"/>
                </a:solidFill>
                <a:latin typeface="Calibri"/>
              </a:defRPr>
            </a:pPr>
            <a:r>
              <a:rPr lang="en-IN" sz="1400" b="0" i="0" u="none" strike="noStrike">
                <a:solidFill>
                  <a:srgbClr val="12263F"/>
                </a:solidFill>
                <a:latin typeface="Calibri"/>
              </a:rPr>
              <a:t>Supplier fill rate</a:t>
            </a:r>
          </a:p>
        </c:rich>
      </c:tx>
      <c:overlay val="0"/>
    </c:title>
    <c:autoTitleDeleted val="0"/>
    <c:plotArea>
      <c:layout/>
      <c:barChart>
        <c:barDir val="bar"/>
        <c:grouping val="clustered"/>
        <c:varyColors val="0"/>
        <c:ser>
          <c:idx val="0"/>
          <c:order val="0"/>
          <c:tx>
            <c:strRef>
              <c:f>Sheet1!$B$1</c:f>
              <c:strCache>
                <c:ptCount val="1"/>
                <c:pt idx="0">
                  <c:v>Avg fill rate %</c:v>
                </c:pt>
              </c:strCache>
            </c:strRef>
          </c:tx>
          <c:spPr>
            <a:solidFill>
              <a:srgbClr val="2E7D52"/>
            </a:solidFill>
            <a:effectLst/>
          </c:spPr>
          <c:invertIfNegative val="0"/>
          <c:dPt>
            <c:idx val="0"/>
            <c:invertIfNegative val="0"/>
            <c:bubble3D val="0"/>
            <c:extLst>
              <c:ext xmlns:c16="http://schemas.microsoft.com/office/drawing/2014/chart" uri="{C3380CC4-5D6E-409C-BE32-E72D297353CC}">
                <c16:uniqueId val="{00000001-7E64-4E0B-9915-B91FA520E960}"/>
              </c:ext>
            </c:extLst>
          </c:dPt>
          <c:dPt>
            <c:idx val="1"/>
            <c:invertIfNegative val="0"/>
            <c:bubble3D val="0"/>
            <c:spPr>
              <a:solidFill>
                <a:srgbClr val="C1442E"/>
              </a:solidFill>
              <a:effectLst/>
            </c:spPr>
            <c:extLst>
              <c:ext xmlns:c16="http://schemas.microsoft.com/office/drawing/2014/chart" uri="{C3380CC4-5D6E-409C-BE32-E72D297353CC}">
                <c16:uniqueId val="{00000003-7E64-4E0B-9915-B91FA520E960}"/>
              </c:ext>
            </c:extLst>
          </c:dPt>
          <c:dLbls>
            <c:numFmt formatCode="0.0&quot;%&quot;" sourceLinked="0"/>
            <c:spPr>
              <a:noFill/>
              <a:ln>
                <a:noFill/>
              </a:ln>
              <a:effectLst/>
            </c:spPr>
            <c:txPr>
              <a:bodyPr/>
              <a:lstStyle/>
              <a:p>
                <a:pPr>
                  <a:defRPr sz="1100" b="0" i="0" u="none" strike="noStrike">
                    <a:solidFill>
                      <a:srgbClr val="1226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Sunrise Wholesale</c:v>
                </c:pt>
                <c:pt idx="1">
                  <c:v>Apex Distributors</c:v>
                </c:pt>
              </c:strCache>
            </c:strRef>
          </c:cat>
          <c:val>
            <c:numRef>
              <c:f>Sheet1!$B$2:$B$3</c:f>
              <c:numCache>
                <c:formatCode>General</c:formatCode>
                <c:ptCount val="2"/>
                <c:pt idx="0">
                  <c:v>95</c:v>
                </c:pt>
                <c:pt idx="1">
                  <c:v>80</c:v>
                </c:pt>
              </c:numCache>
            </c:numRef>
          </c:val>
          <c:extLst>
            <c:ext xmlns:c16="http://schemas.microsoft.com/office/drawing/2014/chart" uri="{C3380CC4-5D6E-409C-BE32-E72D297353CC}">
              <c16:uniqueId val="{00000004-7E64-4E0B-9915-B91FA520E96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D"/>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Checkout rate %</c:v>
                </c:pt>
              </c:strCache>
            </c:strRef>
          </c:tx>
          <c:spPr>
            <a:solidFill>
              <a:srgbClr val="C1442E"/>
            </a:solidFill>
            <a:effectLst/>
          </c:spPr>
          <c:invertIfNegative val="0"/>
          <c:dPt>
            <c:idx val="0"/>
            <c:invertIfNegative val="0"/>
            <c:bubble3D val="0"/>
            <c:extLst>
              <c:ext xmlns:c16="http://schemas.microsoft.com/office/drawing/2014/chart" uri="{C3380CC4-5D6E-409C-BE32-E72D297353CC}">
                <c16:uniqueId val="{00000001-8BD0-4DFE-8551-FACA4A8E656B}"/>
              </c:ext>
            </c:extLst>
          </c:dPt>
          <c:dPt>
            <c:idx val="1"/>
            <c:invertIfNegative val="0"/>
            <c:bubble3D val="0"/>
            <c:spPr>
              <a:solidFill>
                <a:srgbClr val="11828A"/>
              </a:solidFill>
              <a:effectLst/>
            </c:spPr>
            <c:extLst>
              <c:ext xmlns:c16="http://schemas.microsoft.com/office/drawing/2014/chart" uri="{C3380CC4-5D6E-409C-BE32-E72D297353CC}">
                <c16:uniqueId val="{00000003-8BD0-4DFE-8551-FACA4A8E656B}"/>
              </c:ext>
            </c:extLst>
          </c:dPt>
          <c:dPt>
            <c:idx val="2"/>
            <c:invertIfNegative val="0"/>
            <c:bubble3D val="0"/>
            <c:spPr>
              <a:solidFill>
                <a:srgbClr val="11828A"/>
              </a:solidFill>
              <a:effectLst/>
            </c:spPr>
            <c:extLst>
              <c:ext xmlns:c16="http://schemas.microsoft.com/office/drawing/2014/chart" uri="{C3380CC4-5D6E-409C-BE32-E72D297353CC}">
                <c16:uniqueId val="{00000005-8BD0-4DFE-8551-FACA4A8E656B}"/>
              </c:ext>
            </c:extLst>
          </c:dPt>
          <c:dPt>
            <c:idx val="3"/>
            <c:invertIfNegative val="0"/>
            <c:bubble3D val="0"/>
            <c:spPr>
              <a:solidFill>
                <a:srgbClr val="11828A"/>
              </a:solidFill>
              <a:effectLst/>
            </c:spPr>
            <c:extLst>
              <c:ext xmlns:c16="http://schemas.microsoft.com/office/drawing/2014/chart" uri="{C3380CC4-5D6E-409C-BE32-E72D297353CC}">
                <c16:uniqueId val="{00000007-8BD0-4DFE-8551-FACA4A8E656B}"/>
              </c:ext>
            </c:extLst>
          </c:dPt>
          <c:dPt>
            <c:idx val="4"/>
            <c:invertIfNegative val="0"/>
            <c:bubble3D val="0"/>
            <c:spPr>
              <a:solidFill>
                <a:srgbClr val="2E7D52"/>
              </a:solidFill>
              <a:effectLst/>
            </c:spPr>
            <c:extLst>
              <c:ext xmlns:c16="http://schemas.microsoft.com/office/drawing/2014/chart" uri="{C3380CC4-5D6E-409C-BE32-E72D297353CC}">
                <c16:uniqueId val="{00000009-8BD0-4DFE-8551-FACA4A8E656B}"/>
              </c:ext>
            </c:extLst>
          </c:dPt>
          <c:dLbls>
            <c:numFmt formatCode="0.0&quot;%&quot;" sourceLinked="0"/>
            <c:spPr>
              <a:noFill/>
              <a:ln>
                <a:noFill/>
              </a:ln>
              <a:effectLst/>
            </c:spPr>
            <c:txPr>
              <a:bodyPr/>
              <a:lstStyle/>
              <a:p>
                <a:pPr>
                  <a:defRPr sz="1100" b="0" i="0" u="none" strike="noStrike">
                    <a:solidFill>
                      <a:srgbClr val="12263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Paid Ads</c:v>
                </c:pt>
                <c:pt idx="1">
                  <c:v>Direct</c:v>
                </c:pt>
                <c:pt idx="2">
                  <c:v>Social</c:v>
                </c:pt>
                <c:pt idx="3">
                  <c:v>Organic Search</c:v>
                </c:pt>
                <c:pt idx="4">
                  <c:v>Email</c:v>
                </c:pt>
              </c:strCache>
            </c:strRef>
          </c:cat>
          <c:val>
            <c:numRef>
              <c:f>Sheet1!$B$2:$B$6</c:f>
              <c:numCache>
                <c:formatCode>General</c:formatCode>
                <c:ptCount val="5"/>
                <c:pt idx="0">
                  <c:v>17.2</c:v>
                </c:pt>
                <c:pt idx="1">
                  <c:v>21.7</c:v>
                </c:pt>
                <c:pt idx="2">
                  <c:v>21.8</c:v>
                </c:pt>
                <c:pt idx="3">
                  <c:v>25</c:v>
                </c:pt>
                <c:pt idx="4">
                  <c:v>30.9</c:v>
                </c:pt>
              </c:numCache>
            </c:numRef>
          </c:val>
          <c:extLst>
            <c:ext xmlns:c16="http://schemas.microsoft.com/office/drawing/2014/chart" uri="{C3380CC4-5D6E-409C-BE32-E72D297353CC}">
              <c16:uniqueId val="{0000000A-8BD0-4DFE-8551-FACA4A8E656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7A8C"/>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E3E8ED"/>
              </a:solidFill>
              <a:prstDash val="solid"/>
              <a:round/>
            </a:ln>
          </c:spPr>
        </c:majorGridlines>
        <c:numFmt formatCode="General" sourceLinked="0"/>
        <c:majorTickMark val="out"/>
        <c:minorTickMark val="none"/>
        <c:tickLblPos val="low"/>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139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framing sentence: four systems, each producing a defensible dashboard and a wrong conclusion. Replace the placeholders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 3 is the strongest argument in the whole project. Say it slowly.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order aloud: checkout request to OMS, OMS asks PMS for money, PMS result decides confirm or cancel, confirmed order makes IMS reserve stock, stock hits zero so IMS publishes an alert, OMS delists the SKU and cancels what it cannot ship.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separate consumer groups; what happens if a service dies (demo the kill); is the data real; how do you know the fraud rules work; why 14 topics.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F"/>
        </a:solidFill>
        <a:effectLst/>
      </p:bgPr>
    </p:bg>
    <p:spTree>
      <p:nvGrpSpPr>
        <p:cNvPr id="1" name=""/>
        <p:cNvGrpSpPr/>
        <p:nvPr/>
      </p:nvGrpSpPr>
      <p:grpSpPr>
        <a:xfrm>
          <a:off x="0" y="0"/>
          <a:ext cx="0" cy="0"/>
          <a:chOff x="0" y="0"/>
          <a:chExt cx="0" cy="0"/>
        </a:xfrm>
      </p:grpSpPr>
      <p:sp>
        <p:nvSpPr>
          <p:cNvPr id="2" name="Text 0"/>
          <p:cNvSpPr txBox="1"/>
          <p:nvPr/>
        </p:nvSpPr>
        <p:spPr>
          <a:xfrm>
            <a:off x="566928" y="1874520"/>
            <a:ext cx="10972800" cy="502920"/>
          </a:xfrm>
          <a:prstGeom prst="rect">
            <a:avLst/>
          </a:prstGeom>
          <a:noFill/>
          <a:ln/>
        </p:spPr>
        <p:txBody>
          <a:bodyPr wrap="square" rtlCol="0" anchor="ctr"/>
          <a:lstStyle/>
          <a:p>
            <a:pPr marL="0" indent="0">
              <a:buNone/>
            </a:pPr>
            <a:r>
              <a:rPr lang="en-US" sz="1800" b="1" kern="0" spc="400" dirty="0">
                <a:solidFill>
                  <a:srgbClr val="E9A13B"/>
                </a:solidFill>
                <a:latin typeface="Calibri" pitchFamily="34" charset="0"/>
                <a:ea typeface="Calibri" pitchFamily="34" charset="-122"/>
                <a:cs typeface="Calibri" pitchFamily="34" charset="-120"/>
              </a:rPr>
              <a:t>E-COMMERCE 360°</a:t>
            </a:r>
            <a:endParaRPr lang="en-US" sz="1800" dirty="0"/>
          </a:p>
        </p:txBody>
      </p:sp>
      <p:sp>
        <p:nvSpPr>
          <p:cNvPr id="3" name="Text 1"/>
          <p:cNvSpPr txBox="1"/>
          <p:nvPr/>
        </p:nvSpPr>
        <p:spPr>
          <a:xfrm>
            <a:off x="566928" y="2395728"/>
            <a:ext cx="10972800" cy="1371600"/>
          </a:xfrm>
          <a:prstGeom prst="rect">
            <a:avLst/>
          </a:prstGeom>
          <a:noFill/>
          <a:ln/>
        </p:spPr>
        <p:txBody>
          <a:bodyPr wrap="square" rtlCol="0" anchor="ctr"/>
          <a:lstStyle/>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One Streaming Platform Across Four Systems</a:t>
            </a:r>
            <a:endParaRPr lang="en-US" sz="4400" dirty="0"/>
          </a:p>
        </p:txBody>
      </p:sp>
      <p:sp>
        <p:nvSpPr>
          <p:cNvPr id="4" name="Text 2"/>
          <p:cNvSpPr txBox="1"/>
          <p:nvPr/>
        </p:nvSpPr>
        <p:spPr>
          <a:xfrm>
            <a:off x="566928" y="3794760"/>
            <a:ext cx="10972800" cy="411480"/>
          </a:xfrm>
          <a:prstGeom prst="rect">
            <a:avLst/>
          </a:prstGeom>
          <a:noFill/>
          <a:ln/>
        </p:spPr>
        <p:txBody>
          <a:bodyPr wrap="square" rtlCol="0" anchor="ctr"/>
          <a:lstStyle/>
          <a:p>
            <a:pPr marL="0" indent="0">
              <a:buNone/>
            </a:pPr>
            <a:r>
              <a:rPr lang="en-US" sz="1600" dirty="0">
                <a:solidFill>
                  <a:srgbClr val="C3D0DE"/>
                </a:solidFill>
                <a:latin typeface="Calibri" pitchFamily="34" charset="0"/>
                <a:ea typeface="Calibri" pitchFamily="34" charset="-122"/>
                <a:cs typeface="Calibri" pitchFamily="34" charset="-120"/>
              </a:rPr>
              <a:t>Clickstream  ·  Order Management  ·  Payment Management  ·  Inventory Management</a:t>
            </a:r>
            <a:endParaRPr lang="en-US" sz="1600" dirty="0"/>
          </a:p>
        </p:txBody>
      </p:sp>
      <p:sp>
        <p:nvSpPr>
          <p:cNvPr id="5" name="Shape 3"/>
          <p:cNvSpPr/>
          <p:nvPr/>
        </p:nvSpPr>
        <p:spPr>
          <a:xfrm>
            <a:off x="566928" y="4389120"/>
            <a:ext cx="1280160" cy="32004"/>
          </a:xfrm>
          <a:prstGeom prst="rect">
            <a:avLst/>
          </a:prstGeom>
          <a:solidFill>
            <a:srgbClr val="E9A13B"/>
          </a:solidFill>
          <a:ln w="12700">
            <a:solidFill>
              <a:srgbClr val="E9A13B"/>
            </a:solidFill>
            <a:prstDash val="solid"/>
          </a:ln>
        </p:spPr>
        <p:txBody>
          <a:bodyPr/>
          <a:lstStyle/>
          <a:p>
            <a:endParaRPr lang="en-IN"/>
          </a:p>
        </p:txBody>
      </p:sp>
      <p:sp>
        <p:nvSpPr>
          <p:cNvPr id="6" name="Text 4"/>
          <p:cNvSpPr txBox="1"/>
          <p:nvPr/>
        </p:nvSpPr>
        <p:spPr>
          <a:xfrm>
            <a:off x="566928" y="4663440"/>
            <a:ext cx="10972800" cy="320040"/>
          </a:xfrm>
          <a:prstGeom prst="rect">
            <a:avLst/>
          </a:prstGeom>
          <a:noFill/>
          <a:ln/>
        </p:spPr>
        <p:txBody>
          <a:bodyPr wrap="square" rtlCol="0" anchor="ctr"/>
          <a:lstStyle/>
          <a:p>
            <a:pPr marL="0" indent="0">
              <a:buNone/>
            </a:pPr>
            <a:r>
              <a:rPr lang="en-US" sz="1300" dirty="0">
                <a:solidFill>
                  <a:srgbClr val="9FB2C6"/>
                </a:solidFill>
                <a:latin typeface="Calibri" pitchFamily="34" charset="0"/>
                <a:ea typeface="Calibri" pitchFamily="34" charset="-122"/>
                <a:cs typeface="Calibri" pitchFamily="34" charset="-120"/>
              </a:rPr>
              <a:t>Streaming Data Analytics  |  Final Project  |  Section SDA-2</a:t>
            </a:r>
            <a:endParaRPr lang="en-US" sz="1300" dirty="0"/>
          </a:p>
        </p:txBody>
      </p:sp>
      <p:sp>
        <p:nvSpPr>
          <p:cNvPr id="7" name="Text 5"/>
          <p:cNvSpPr txBox="1"/>
          <p:nvPr/>
        </p:nvSpPr>
        <p:spPr>
          <a:xfrm>
            <a:off x="566928" y="5029200"/>
            <a:ext cx="10972800" cy="320040"/>
          </a:xfrm>
          <a:prstGeom prst="rect">
            <a:avLst/>
          </a:prstGeom>
          <a:noFill/>
          <a:ln/>
        </p:spPr>
        <p:txBody>
          <a:bodyPr wrap="square" rtlCol="0" anchor="ctr"/>
          <a:lstStyle/>
          <a:p>
            <a:r>
              <a:rPr lang="en-US" sz="1300" dirty="0">
                <a:solidFill>
                  <a:srgbClr val="9FB2C6"/>
                </a:solidFill>
                <a:latin typeface="Calibri" pitchFamily="34" charset="0"/>
                <a:ea typeface="Calibri" pitchFamily="34" charset="-122"/>
                <a:cs typeface="Calibri" pitchFamily="34" charset="-120"/>
              </a:rPr>
              <a:t>Group 1   ·   </a:t>
            </a:r>
            <a:r>
              <a:rPr lang="en-US" sz="1300" dirty="0" err="1">
                <a:solidFill>
                  <a:srgbClr val="9FB2C6"/>
                </a:solidFill>
                <a:latin typeface="Calibri" pitchFamily="34" charset="0"/>
                <a:ea typeface="Calibri" pitchFamily="34" charset="-122"/>
                <a:cs typeface="Calibri" pitchFamily="34" charset="-120"/>
              </a:rPr>
              <a:t>Anshjot</a:t>
            </a:r>
            <a:r>
              <a:rPr lang="en-US" sz="1300" dirty="0">
                <a:solidFill>
                  <a:srgbClr val="9FB2C6"/>
                </a:solidFill>
                <a:latin typeface="Calibri" pitchFamily="34" charset="0"/>
                <a:ea typeface="Calibri" pitchFamily="34" charset="-122"/>
                <a:cs typeface="Calibri" pitchFamily="34" charset="-120"/>
              </a:rPr>
              <a:t> Singh  ·  Komal  ·  Satish Chandra  ·  Pancham Khullar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The Problem</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Revenue leaks in four places at once — and each leak is owned by a different system</a:t>
            </a:r>
            <a:endParaRPr lang="en-US" sz="1400" dirty="0"/>
          </a:p>
        </p:txBody>
      </p:sp>
      <p:sp>
        <p:nvSpPr>
          <p:cNvPr id="4" name="Text 2"/>
          <p:cNvSpPr txBox="1"/>
          <p:nvPr/>
        </p:nvSpPr>
        <p:spPr>
          <a:xfrm>
            <a:off x="566928" y="1417320"/>
            <a:ext cx="11064240" cy="777240"/>
          </a:xfrm>
          <a:prstGeom prst="rect">
            <a:avLst/>
          </a:prstGeom>
          <a:noFill/>
          <a:ln/>
        </p:spPr>
        <p:txBody>
          <a:bodyPr wrap="square" lIns="0" tIns="0" rIns="0" bIns="0" rtlCol="0" anchor="ctr"/>
          <a:lstStyle/>
          <a:p>
            <a:pPr marL="0" indent="0">
              <a:buNone/>
            </a:pPr>
            <a:r>
              <a:rPr lang="en-US" sz="1400" dirty="0">
                <a:solidFill>
                  <a:srgbClr val="22303F"/>
                </a:solidFill>
                <a:latin typeface="Calibri" pitchFamily="34" charset="0"/>
                <a:ea typeface="Calibri" pitchFamily="34" charset="-122"/>
                <a:cs typeface="Calibri" pitchFamily="34" charset="-120"/>
              </a:rPr>
              <a:t>E-commerce runs on a continuous chain of customer, order, payment and inventory events. Those events are processed in functionally fragmented systems, so drop-offs, payment failures, fraud, stock shortages and order exceptions surface only after the revenue is already gone.</a:t>
            </a:r>
            <a:endParaRPr lang="en-US" sz="1400" dirty="0"/>
          </a:p>
        </p:txBody>
      </p:sp>
      <p:sp>
        <p:nvSpPr>
          <p:cNvPr id="5" name="Shape 3"/>
          <p:cNvSpPr/>
          <p:nvPr/>
        </p:nvSpPr>
        <p:spPr>
          <a:xfrm>
            <a:off x="566928" y="2377440"/>
            <a:ext cx="2606040" cy="1508760"/>
          </a:xfrm>
          <a:prstGeom prst="roundRect">
            <a:avLst>
              <a:gd name="adj" fmla="val 4848"/>
            </a:avLst>
          </a:prstGeom>
          <a:solidFill>
            <a:srgbClr val="F4F6F8"/>
          </a:solidFill>
          <a:ln w="12700">
            <a:solidFill>
              <a:srgbClr val="F4F6F8"/>
            </a:solidFill>
            <a:prstDash val="solid"/>
          </a:ln>
        </p:spPr>
        <p:txBody>
          <a:bodyPr/>
          <a:lstStyle/>
          <a:p>
            <a:endParaRPr lang="en-IN"/>
          </a:p>
        </p:txBody>
      </p:sp>
      <p:sp>
        <p:nvSpPr>
          <p:cNvPr id="6" name="Text 4"/>
          <p:cNvSpPr txBox="1"/>
          <p:nvPr/>
        </p:nvSpPr>
        <p:spPr>
          <a:xfrm>
            <a:off x="749808" y="2514600"/>
            <a:ext cx="2286000" cy="292608"/>
          </a:xfrm>
          <a:prstGeom prst="rect">
            <a:avLst/>
          </a:prstGeom>
          <a:noFill/>
          <a:ln/>
        </p:spPr>
        <p:txBody>
          <a:bodyPr wrap="square" lIns="0" tIns="0" rIns="0" bIns="0" rtlCol="0" anchor="ctr"/>
          <a:lstStyle/>
          <a:p>
            <a:pPr marL="0" indent="0">
              <a:buNone/>
            </a:pPr>
            <a:r>
              <a:rPr lang="en-US" sz="1400" b="1" dirty="0">
                <a:solidFill>
                  <a:srgbClr val="11828A"/>
                </a:solidFill>
                <a:latin typeface="Calibri" pitchFamily="34" charset="0"/>
                <a:ea typeface="Calibri" pitchFamily="34" charset="-122"/>
                <a:cs typeface="Calibri" pitchFamily="34" charset="-120"/>
              </a:rPr>
              <a:t>Clickstream</a:t>
            </a:r>
            <a:endParaRPr lang="en-US" sz="1400" dirty="0"/>
          </a:p>
        </p:txBody>
      </p:sp>
      <p:sp>
        <p:nvSpPr>
          <p:cNvPr id="7" name="Text 5"/>
          <p:cNvSpPr txBox="1"/>
          <p:nvPr/>
        </p:nvSpPr>
        <p:spPr>
          <a:xfrm>
            <a:off x="749808" y="2852928"/>
            <a:ext cx="2286000" cy="914400"/>
          </a:xfrm>
          <a:prstGeom prst="rect">
            <a:avLst/>
          </a:prstGeom>
          <a:noFill/>
          <a:ln/>
        </p:spPr>
        <p:txBody>
          <a:bodyPr wrap="square" lIns="0" tIns="0" rIns="0" bIns="0" rtlCol="0" anchor="ctr"/>
          <a:lstStyle/>
          <a:p>
            <a:pPr marL="0" indent="0">
              <a:buNone/>
            </a:pPr>
            <a:r>
              <a:rPr lang="en-US" sz="1200" dirty="0">
                <a:solidFill>
                  <a:srgbClr val="33465C"/>
                </a:solidFill>
                <a:latin typeface="Calibri" pitchFamily="34" charset="0"/>
                <a:ea typeface="Calibri" pitchFamily="34" charset="-122"/>
                <a:cs typeface="Calibri" pitchFamily="34" charset="-120"/>
              </a:rPr>
              <a:t>Sees the shopper abandon a cart.</a:t>
            </a:r>
            <a:endParaRPr lang="en-US" sz="1200" dirty="0"/>
          </a:p>
          <a:p>
            <a:pPr marL="0" indent="0">
              <a:buNone/>
            </a:pPr>
            <a:r>
              <a:rPr lang="en-US" sz="1200" dirty="0">
                <a:solidFill>
                  <a:srgbClr val="33465C"/>
                </a:solidFill>
                <a:latin typeface="Calibri" pitchFamily="34" charset="0"/>
                <a:ea typeface="Calibri" pitchFamily="34" charset="-122"/>
                <a:cs typeface="Calibri" pitchFamily="34" charset="-120"/>
              </a:rPr>
              <a:t>Cannot see the order never placed.</a:t>
            </a:r>
            <a:endParaRPr lang="en-US" sz="1200" dirty="0"/>
          </a:p>
        </p:txBody>
      </p:sp>
      <p:sp>
        <p:nvSpPr>
          <p:cNvPr id="8" name="Shape 6"/>
          <p:cNvSpPr/>
          <p:nvPr/>
        </p:nvSpPr>
        <p:spPr>
          <a:xfrm>
            <a:off x="3374136" y="2377440"/>
            <a:ext cx="2606040" cy="1508760"/>
          </a:xfrm>
          <a:prstGeom prst="roundRect">
            <a:avLst>
              <a:gd name="adj" fmla="val 4848"/>
            </a:avLst>
          </a:prstGeom>
          <a:solidFill>
            <a:srgbClr val="F4F6F8"/>
          </a:solidFill>
          <a:ln w="12700">
            <a:solidFill>
              <a:srgbClr val="F4F6F8"/>
            </a:solidFill>
            <a:prstDash val="solid"/>
          </a:ln>
        </p:spPr>
        <p:txBody>
          <a:bodyPr/>
          <a:lstStyle/>
          <a:p>
            <a:endParaRPr lang="en-IN"/>
          </a:p>
        </p:txBody>
      </p:sp>
      <p:sp>
        <p:nvSpPr>
          <p:cNvPr id="9" name="Text 7"/>
          <p:cNvSpPr txBox="1"/>
          <p:nvPr/>
        </p:nvSpPr>
        <p:spPr>
          <a:xfrm>
            <a:off x="3557016" y="2514600"/>
            <a:ext cx="2286000" cy="292608"/>
          </a:xfrm>
          <a:prstGeom prst="rect">
            <a:avLst/>
          </a:prstGeom>
          <a:noFill/>
          <a:ln/>
        </p:spPr>
        <p:txBody>
          <a:bodyPr wrap="square" lIns="0" tIns="0" rIns="0" bIns="0" rtlCol="0" anchor="ctr"/>
          <a:lstStyle/>
          <a:p>
            <a:pPr marL="0" indent="0">
              <a:buNone/>
            </a:pPr>
            <a:r>
              <a:rPr lang="en-US" sz="1400" b="1" dirty="0">
                <a:solidFill>
                  <a:srgbClr val="11828A"/>
                </a:solidFill>
                <a:latin typeface="Calibri" pitchFamily="34" charset="0"/>
                <a:ea typeface="Calibri" pitchFamily="34" charset="-122"/>
                <a:cs typeface="Calibri" pitchFamily="34" charset="-120"/>
              </a:rPr>
              <a:t>Order Mgmt</a:t>
            </a:r>
            <a:endParaRPr lang="en-US" sz="1400" dirty="0"/>
          </a:p>
        </p:txBody>
      </p:sp>
      <p:sp>
        <p:nvSpPr>
          <p:cNvPr id="10" name="Text 8"/>
          <p:cNvSpPr txBox="1"/>
          <p:nvPr/>
        </p:nvSpPr>
        <p:spPr>
          <a:xfrm>
            <a:off x="3557016" y="2852928"/>
            <a:ext cx="2286000" cy="914400"/>
          </a:xfrm>
          <a:prstGeom prst="rect">
            <a:avLst/>
          </a:prstGeom>
          <a:noFill/>
          <a:ln/>
        </p:spPr>
        <p:txBody>
          <a:bodyPr wrap="square" lIns="0" tIns="0" rIns="0" bIns="0" rtlCol="0" anchor="ctr"/>
          <a:lstStyle/>
          <a:p>
            <a:pPr marL="0" indent="0">
              <a:buNone/>
            </a:pPr>
            <a:r>
              <a:rPr lang="en-US" sz="1200" dirty="0">
                <a:solidFill>
                  <a:srgbClr val="33465C"/>
                </a:solidFill>
                <a:latin typeface="Calibri" pitchFamily="34" charset="0"/>
                <a:ea typeface="Calibri" pitchFamily="34" charset="-122"/>
                <a:cs typeface="Calibri" pitchFamily="34" charset="-120"/>
              </a:rPr>
              <a:t>Sees an order cancelled.</a:t>
            </a:r>
            <a:endParaRPr lang="en-US" sz="1200" dirty="0"/>
          </a:p>
          <a:p>
            <a:pPr marL="0" indent="0">
              <a:buNone/>
            </a:pPr>
            <a:r>
              <a:rPr lang="en-US" sz="1200" dirty="0">
                <a:solidFill>
                  <a:srgbClr val="33465C"/>
                </a:solidFill>
                <a:latin typeface="Calibri" pitchFamily="34" charset="0"/>
                <a:ea typeface="Calibri" pitchFamily="34" charset="-122"/>
                <a:cs typeface="Calibri" pitchFamily="34" charset="-120"/>
              </a:rPr>
              <a:t>Cannot see which system caused it.</a:t>
            </a:r>
            <a:endParaRPr lang="en-US" sz="1200" dirty="0"/>
          </a:p>
        </p:txBody>
      </p:sp>
      <p:sp>
        <p:nvSpPr>
          <p:cNvPr id="11" name="Shape 9"/>
          <p:cNvSpPr/>
          <p:nvPr/>
        </p:nvSpPr>
        <p:spPr>
          <a:xfrm>
            <a:off x="6181344" y="2377440"/>
            <a:ext cx="2606040" cy="1508760"/>
          </a:xfrm>
          <a:prstGeom prst="roundRect">
            <a:avLst>
              <a:gd name="adj" fmla="val 4848"/>
            </a:avLst>
          </a:prstGeom>
          <a:solidFill>
            <a:srgbClr val="F4F6F8"/>
          </a:solidFill>
          <a:ln w="12700">
            <a:solidFill>
              <a:srgbClr val="F4F6F8"/>
            </a:solidFill>
            <a:prstDash val="solid"/>
          </a:ln>
        </p:spPr>
        <p:txBody>
          <a:bodyPr/>
          <a:lstStyle/>
          <a:p>
            <a:endParaRPr lang="en-IN"/>
          </a:p>
        </p:txBody>
      </p:sp>
      <p:sp>
        <p:nvSpPr>
          <p:cNvPr id="12" name="Text 10"/>
          <p:cNvSpPr txBox="1"/>
          <p:nvPr/>
        </p:nvSpPr>
        <p:spPr>
          <a:xfrm>
            <a:off x="6364224" y="2514600"/>
            <a:ext cx="2286000" cy="292608"/>
          </a:xfrm>
          <a:prstGeom prst="rect">
            <a:avLst/>
          </a:prstGeom>
          <a:noFill/>
          <a:ln/>
        </p:spPr>
        <p:txBody>
          <a:bodyPr wrap="square" lIns="0" tIns="0" rIns="0" bIns="0" rtlCol="0" anchor="ctr"/>
          <a:lstStyle/>
          <a:p>
            <a:pPr marL="0" indent="0">
              <a:buNone/>
            </a:pPr>
            <a:r>
              <a:rPr lang="en-US" sz="1400" b="1" dirty="0">
                <a:solidFill>
                  <a:srgbClr val="11828A"/>
                </a:solidFill>
                <a:latin typeface="Calibri" pitchFamily="34" charset="0"/>
                <a:ea typeface="Calibri" pitchFamily="34" charset="-122"/>
                <a:cs typeface="Calibri" pitchFamily="34" charset="-120"/>
              </a:rPr>
              <a:t>Payment</a:t>
            </a:r>
            <a:endParaRPr lang="en-US" sz="1400" dirty="0"/>
          </a:p>
        </p:txBody>
      </p:sp>
      <p:sp>
        <p:nvSpPr>
          <p:cNvPr id="13" name="Text 11"/>
          <p:cNvSpPr txBox="1"/>
          <p:nvPr/>
        </p:nvSpPr>
        <p:spPr>
          <a:xfrm>
            <a:off x="6364224" y="2852928"/>
            <a:ext cx="2286000" cy="914400"/>
          </a:xfrm>
          <a:prstGeom prst="rect">
            <a:avLst/>
          </a:prstGeom>
          <a:noFill/>
          <a:ln/>
        </p:spPr>
        <p:txBody>
          <a:bodyPr wrap="square" lIns="0" tIns="0" rIns="0" bIns="0" rtlCol="0" anchor="ctr"/>
          <a:lstStyle/>
          <a:p>
            <a:pPr marL="0" indent="0">
              <a:buNone/>
            </a:pPr>
            <a:r>
              <a:rPr lang="en-US" sz="1200" dirty="0">
                <a:solidFill>
                  <a:srgbClr val="33465C"/>
                </a:solidFill>
                <a:latin typeface="Calibri" pitchFamily="34" charset="0"/>
                <a:ea typeface="Calibri" pitchFamily="34" charset="-122"/>
                <a:cs typeface="Calibri" pitchFamily="34" charset="-120"/>
              </a:rPr>
              <a:t>Sees a 31% failure rate.</a:t>
            </a:r>
            <a:endParaRPr lang="en-US" sz="1200" dirty="0"/>
          </a:p>
          <a:p>
            <a:pPr marL="0" indent="0">
              <a:buNone/>
            </a:pPr>
            <a:r>
              <a:rPr lang="en-US" sz="1200" dirty="0">
                <a:solidFill>
                  <a:srgbClr val="33465C"/>
                </a:solidFill>
                <a:latin typeface="Calibri" pitchFamily="34" charset="0"/>
                <a:ea typeface="Calibri" pitchFamily="34" charset="-122"/>
                <a:cs typeface="Calibri" pitchFamily="34" charset="-120"/>
              </a:rPr>
              <a:t>Cannot say: fraud, or gateway outage?</a:t>
            </a:r>
            <a:endParaRPr lang="en-US" sz="1200" dirty="0"/>
          </a:p>
        </p:txBody>
      </p:sp>
      <p:sp>
        <p:nvSpPr>
          <p:cNvPr id="14" name="Shape 12"/>
          <p:cNvSpPr/>
          <p:nvPr/>
        </p:nvSpPr>
        <p:spPr>
          <a:xfrm>
            <a:off x="8988552" y="2377440"/>
            <a:ext cx="2606040" cy="1508760"/>
          </a:xfrm>
          <a:prstGeom prst="roundRect">
            <a:avLst>
              <a:gd name="adj" fmla="val 4848"/>
            </a:avLst>
          </a:prstGeom>
          <a:solidFill>
            <a:srgbClr val="F4F6F8"/>
          </a:solidFill>
          <a:ln w="12700">
            <a:solidFill>
              <a:srgbClr val="F4F6F8"/>
            </a:solidFill>
            <a:prstDash val="solid"/>
          </a:ln>
        </p:spPr>
        <p:txBody>
          <a:bodyPr/>
          <a:lstStyle/>
          <a:p>
            <a:endParaRPr lang="en-IN"/>
          </a:p>
        </p:txBody>
      </p:sp>
      <p:sp>
        <p:nvSpPr>
          <p:cNvPr id="15" name="Text 13"/>
          <p:cNvSpPr txBox="1"/>
          <p:nvPr/>
        </p:nvSpPr>
        <p:spPr>
          <a:xfrm>
            <a:off x="9171432" y="2514600"/>
            <a:ext cx="2286000" cy="292608"/>
          </a:xfrm>
          <a:prstGeom prst="rect">
            <a:avLst/>
          </a:prstGeom>
          <a:noFill/>
          <a:ln/>
        </p:spPr>
        <p:txBody>
          <a:bodyPr wrap="square" lIns="0" tIns="0" rIns="0" bIns="0" rtlCol="0" anchor="ctr"/>
          <a:lstStyle/>
          <a:p>
            <a:pPr marL="0" indent="0">
              <a:buNone/>
            </a:pPr>
            <a:r>
              <a:rPr lang="en-US" sz="1400" b="1" dirty="0">
                <a:solidFill>
                  <a:srgbClr val="11828A"/>
                </a:solidFill>
                <a:latin typeface="Calibri" pitchFamily="34" charset="0"/>
                <a:ea typeface="Calibri" pitchFamily="34" charset="-122"/>
                <a:cs typeface="Calibri" pitchFamily="34" charset="-120"/>
              </a:rPr>
              <a:t>Inventory</a:t>
            </a:r>
            <a:endParaRPr lang="en-US" sz="1400" dirty="0"/>
          </a:p>
        </p:txBody>
      </p:sp>
      <p:sp>
        <p:nvSpPr>
          <p:cNvPr id="16" name="Text 14"/>
          <p:cNvSpPr txBox="1"/>
          <p:nvPr/>
        </p:nvSpPr>
        <p:spPr>
          <a:xfrm>
            <a:off x="9171432" y="2852928"/>
            <a:ext cx="2286000" cy="914400"/>
          </a:xfrm>
          <a:prstGeom prst="rect">
            <a:avLst/>
          </a:prstGeom>
          <a:noFill/>
          <a:ln/>
        </p:spPr>
        <p:txBody>
          <a:bodyPr wrap="square" lIns="0" tIns="0" rIns="0" bIns="0" rtlCol="0" anchor="ctr"/>
          <a:lstStyle/>
          <a:p>
            <a:pPr marL="0" indent="0">
              <a:buNone/>
            </a:pPr>
            <a:r>
              <a:rPr lang="en-US" sz="1200" dirty="0">
                <a:solidFill>
                  <a:srgbClr val="33465C"/>
                </a:solidFill>
                <a:latin typeface="Calibri" pitchFamily="34" charset="0"/>
                <a:ea typeface="Calibri" pitchFamily="34" charset="-122"/>
                <a:cs typeface="Calibri" pitchFamily="34" charset="-120"/>
              </a:rPr>
              <a:t>Sees a stock-out.</a:t>
            </a:r>
            <a:endParaRPr lang="en-US" sz="1200" dirty="0"/>
          </a:p>
          <a:p>
            <a:pPr marL="0" indent="0">
              <a:buNone/>
            </a:pPr>
            <a:r>
              <a:rPr lang="en-US" sz="1200" dirty="0">
                <a:solidFill>
                  <a:srgbClr val="33465C"/>
                </a:solidFill>
                <a:latin typeface="Calibri" pitchFamily="34" charset="0"/>
                <a:ea typeface="Calibri" pitchFamily="34" charset="-122"/>
                <a:cs typeface="Calibri" pitchFamily="34" charset="-120"/>
              </a:rPr>
              <a:t>Cannot see the revenue it cancelled.</a:t>
            </a:r>
            <a:endParaRPr lang="en-US" sz="1200" dirty="0"/>
          </a:p>
        </p:txBody>
      </p:sp>
      <p:sp>
        <p:nvSpPr>
          <p:cNvPr id="17" name="Text 15"/>
          <p:cNvSpPr txBox="1"/>
          <p:nvPr/>
        </p:nvSpPr>
        <p:spPr>
          <a:xfrm>
            <a:off x="566928" y="4069080"/>
            <a:ext cx="10972800" cy="32004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Why streaming, not batch — every decision here has a window of minutes</a:t>
            </a:r>
            <a:endParaRPr lang="en-US" sz="1400" dirty="0"/>
          </a:p>
        </p:txBody>
      </p:sp>
      <p:sp>
        <p:nvSpPr>
          <p:cNvPr id="18" name="Text 16"/>
          <p:cNvSpPr txBox="1"/>
          <p:nvPr/>
        </p:nvSpPr>
        <p:spPr>
          <a:xfrm>
            <a:off x="658368" y="4407408"/>
            <a:ext cx="10881360" cy="17373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22303F"/>
                </a:solidFill>
                <a:latin typeface="Calibri" pitchFamily="34" charset="0"/>
                <a:ea typeface="Calibri" pitchFamily="34" charset="-122"/>
                <a:cs typeface="Calibri" pitchFamily="34" charset="-120"/>
              </a:rPr>
              <a:t>A SKU must be delisted the moment stock hits zero — overnight, the platform has already taken orders it cannot ship</a:t>
            </a:r>
            <a:endParaRPr lang="en-US" sz="1300" dirty="0"/>
          </a:p>
          <a:p>
            <a:pPr marL="342900" indent="-342900">
              <a:spcAft>
                <a:spcPts val="700"/>
              </a:spcAft>
              <a:buSzPct val="100000"/>
              <a:buChar char="•"/>
            </a:pPr>
            <a:r>
              <a:rPr lang="en-US" sz="1300" dirty="0">
                <a:solidFill>
                  <a:srgbClr val="22303F"/>
                </a:solidFill>
                <a:latin typeface="Calibri" pitchFamily="34" charset="0"/>
                <a:ea typeface="Calibri" pitchFamily="34" charset="-122"/>
                <a:cs typeface="Calibri" pitchFamily="34" charset="-120"/>
              </a:rPr>
              <a:t>A fraud pattern must be held before settlement; afterwards it is a chargeback, not a decision</a:t>
            </a:r>
            <a:endParaRPr lang="en-US" sz="1300" dirty="0"/>
          </a:p>
          <a:p>
            <a:pPr marL="342900" indent="-342900">
              <a:spcAft>
                <a:spcPts val="700"/>
              </a:spcAft>
              <a:buSzPct val="100000"/>
              <a:buChar char="•"/>
            </a:pPr>
            <a:r>
              <a:rPr lang="en-US" sz="1300" dirty="0">
                <a:solidFill>
                  <a:srgbClr val="22303F"/>
                </a:solidFill>
                <a:latin typeface="Calibri" pitchFamily="34" charset="0"/>
                <a:ea typeface="Calibri" pitchFamily="34" charset="-122"/>
                <a:cs typeface="Calibri" pitchFamily="34" charset="-120"/>
              </a:rPr>
              <a:t>Cart abandonment is detected by the ABSENCE of an event — batch has no record to join on, only a gap</a:t>
            </a:r>
            <a:endParaRPr lang="en-US" sz="1300" dirty="0"/>
          </a:p>
          <a:p>
            <a:pPr marL="342900" indent="-342900">
              <a:spcAft>
                <a:spcPts val="700"/>
              </a:spcAft>
              <a:buSzPct val="100000"/>
              <a:buChar char="•"/>
            </a:pPr>
            <a:r>
              <a:rPr lang="en-US" sz="1300" dirty="0">
                <a:solidFill>
                  <a:srgbClr val="22303F"/>
                </a:solidFill>
                <a:latin typeface="Calibri" pitchFamily="34" charset="0"/>
                <a:ea typeface="Calibri" pitchFamily="34" charset="-122"/>
                <a:cs typeface="Calibri" pitchFamily="34" charset="-120"/>
              </a:rPr>
              <a:t>Festive demand spikes several times over baseline within minutes; the ingestion layer must absorb it without loss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What We Built</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Four systems wired together over Kafka — measured on one continuous run</a:t>
            </a:r>
            <a:endParaRPr lang="en-US" sz="1400" dirty="0"/>
          </a:p>
        </p:txBody>
      </p:sp>
      <p:sp>
        <p:nvSpPr>
          <p:cNvPr id="4" name="Shape 2"/>
          <p:cNvSpPr/>
          <p:nvPr/>
        </p:nvSpPr>
        <p:spPr>
          <a:xfrm>
            <a:off x="566928" y="1417320"/>
            <a:ext cx="2615184"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5" name="Text 3"/>
          <p:cNvSpPr txBox="1"/>
          <p:nvPr/>
        </p:nvSpPr>
        <p:spPr>
          <a:xfrm>
            <a:off x="704088" y="1527048"/>
            <a:ext cx="2340864" cy="658368"/>
          </a:xfrm>
          <a:prstGeom prst="rect">
            <a:avLst/>
          </a:prstGeom>
          <a:noFill/>
          <a:ln/>
        </p:spPr>
        <p:txBody>
          <a:bodyPr wrap="square" lIns="0" tIns="0" rIns="0" bIns="0" rtlCol="0" anchor="ctr"/>
          <a:lstStyle/>
          <a:p>
            <a:pPr marL="0" indent="0" algn="ctr">
              <a:buNone/>
            </a:pPr>
            <a:r>
              <a:rPr lang="en-US" sz="3200" b="1" dirty="0">
                <a:solidFill>
                  <a:srgbClr val="12263F"/>
                </a:solidFill>
                <a:latin typeface="Cambria" pitchFamily="34" charset="0"/>
                <a:ea typeface="Cambria" pitchFamily="34" charset="-122"/>
                <a:cs typeface="Cambria" pitchFamily="34" charset="-120"/>
              </a:rPr>
              <a:t>7,383</a:t>
            </a:r>
            <a:endParaRPr lang="en-US" sz="3200" dirty="0"/>
          </a:p>
        </p:txBody>
      </p:sp>
      <p:sp>
        <p:nvSpPr>
          <p:cNvPr id="6" name="Text 4"/>
          <p:cNvSpPr txBox="1"/>
          <p:nvPr/>
        </p:nvSpPr>
        <p:spPr>
          <a:xfrm>
            <a:off x="676656" y="2203704"/>
            <a:ext cx="2395728"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EVENTS INGESTED</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across 14 Kafka topics</a:t>
            </a:r>
            <a:endParaRPr lang="en-US" sz="1100" dirty="0"/>
          </a:p>
        </p:txBody>
      </p:sp>
      <p:sp>
        <p:nvSpPr>
          <p:cNvPr id="7" name="Shape 5"/>
          <p:cNvSpPr/>
          <p:nvPr/>
        </p:nvSpPr>
        <p:spPr>
          <a:xfrm>
            <a:off x="3374136" y="1417320"/>
            <a:ext cx="2615184"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8" name="Text 6"/>
          <p:cNvSpPr txBox="1"/>
          <p:nvPr/>
        </p:nvSpPr>
        <p:spPr>
          <a:xfrm>
            <a:off x="3511296" y="1527048"/>
            <a:ext cx="2340864" cy="658368"/>
          </a:xfrm>
          <a:prstGeom prst="rect">
            <a:avLst/>
          </a:prstGeom>
          <a:noFill/>
          <a:ln/>
        </p:spPr>
        <p:txBody>
          <a:bodyPr wrap="square" lIns="0" tIns="0" rIns="0" bIns="0" rtlCol="0" anchor="ctr"/>
          <a:lstStyle/>
          <a:p>
            <a:pPr marL="0" indent="0" algn="ctr">
              <a:buNone/>
            </a:pPr>
            <a:r>
              <a:rPr lang="en-US" sz="3200" b="1" dirty="0">
                <a:solidFill>
                  <a:srgbClr val="12263F"/>
                </a:solidFill>
                <a:latin typeface="Cambria" pitchFamily="34" charset="0"/>
                <a:ea typeface="Cambria" pitchFamily="34" charset="-122"/>
                <a:cs typeface="Cambria" pitchFamily="34" charset="-120"/>
              </a:rPr>
              <a:t>1,110</a:t>
            </a:r>
            <a:endParaRPr lang="en-US" sz="3200" dirty="0"/>
          </a:p>
        </p:txBody>
      </p:sp>
      <p:sp>
        <p:nvSpPr>
          <p:cNvPr id="9" name="Text 7"/>
          <p:cNvSpPr txBox="1"/>
          <p:nvPr/>
        </p:nvSpPr>
        <p:spPr>
          <a:xfrm>
            <a:off x="3483864" y="2203704"/>
            <a:ext cx="2395728"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SHOPPER SESSIONS</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top of the funnel</a:t>
            </a:r>
            <a:endParaRPr lang="en-US" sz="1100" dirty="0"/>
          </a:p>
        </p:txBody>
      </p:sp>
      <p:sp>
        <p:nvSpPr>
          <p:cNvPr id="10" name="Shape 8"/>
          <p:cNvSpPr/>
          <p:nvPr/>
        </p:nvSpPr>
        <p:spPr>
          <a:xfrm>
            <a:off x="6181344" y="1417320"/>
            <a:ext cx="2615184"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11" name="Text 9"/>
          <p:cNvSpPr txBox="1"/>
          <p:nvPr/>
        </p:nvSpPr>
        <p:spPr>
          <a:xfrm>
            <a:off x="6318504" y="1527048"/>
            <a:ext cx="2340864" cy="658368"/>
          </a:xfrm>
          <a:prstGeom prst="rect">
            <a:avLst/>
          </a:prstGeom>
          <a:noFill/>
          <a:ln/>
        </p:spPr>
        <p:txBody>
          <a:bodyPr wrap="square" lIns="0" tIns="0" rIns="0" bIns="0" rtlCol="0" anchor="ctr"/>
          <a:lstStyle/>
          <a:p>
            <a:pPr marL="0" indent="0" algn="ctr">
              <a:buNone/>
            </a:pPr>
            <a:r>
              <a:rPr lang="en-US" sz="3200" b="1" dirty="0">
                <a:solidFill>
                  <a:srgbClr val="12263F"/>
                </a:solidFill>
                <a:latin typeface="Cambria" pitchFamily="34" charset="0"/>
                <a:ea typeface="Cambria" pitchFamily="34" charset="-122"/>
                <a:cs typeface="Cambria" pitchFamily="34" charset="-120"/>
              </a:rPr>
              <a:t>251</a:t>
            </a:r>
            <a:endParaRPr lang="en-US" sz="3200" dirty="0"/>
          </a:p>
        </p:txBody>
      </p:sp>
      <p:sp>
        <p:nvSpPr>
          <p:cNvPr id="12" name="Text 10"/>
          <p:cNvSpPr txBox="1"/>
          <p:nvPr/>
        </p:nvSpPr>
        <p:spPr>
          <a:xfrm>
            <a:off x="6291072" y="2203704"/>
            <a:ext cx="2395728"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ORDERS CREATED</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one journey document each</a:t>
            </a:r>
            <a:endParaRPr lang="en-US" sz="1100" dirty="0"/>
          </a:p>
        </p:txBody>
      </p:sp>
      <p:sp>
        <p:nvSpPr>
          <p:cNvPr id="13" name="Shape 11"/>
          <p:cNvSpPr/>
          <p:nvPr/>
        </p:nvSpPr>
        <p:spPr>
          <a:xfrm>
            <a:off x="8988552" y="1417320"/>
            <a:ext cx="2615184"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14" name="Text 12"/>
          <p:cNvSpPr txBox="1"/>
          <p:nvPr/>
        </p:nvSpPr>
        <p:spPr>
          <a:xfrm>
            <a:off x="9125712" y="1527048"/>
            <a:ext cx="2340864" cy="658368"/>
          </a:xfrm>
          <a:prstGeom prst="rect">
            <a:avLst/>
          </a:prstGeom>
          <a:noFill/>
          <a:ln/>
        </p:spPr>
        <p:txBody>
          <a:bodyPr wrap="square" lIns="0" tIns="0" rIns="0" bIns="0" rtlCol="0" anchor="ctr"/>
          <a:lstStyle/>
          <a:p>
            <a:pPr marL="0" indent="0" algn="ctr">
              <a:buNone/>
            </a:pPr>
            <a:r>
              <a:rPr lang="en-US" sz="3200" b="1" dirty="0">
                <a:solidFill>
                  <a:srgbClr val="11828A"/>
                </a:solidFill>
                <a:latin typeface="Cambria" pitchFamily="34" charset="0"/>
                <a:ea typeface="Cambria" pitchFamily="34" charset="-122"/>
                <a:cs typeface="Cambria" pitchFamily="34" charset="-120"/>
              </a:rPr>
              <a:t>22.6%</a:t>
            </a:r>
            <a:endParaRPr lang="en-US" sz="3200" dirty="0"/>
          </a:p>
        </p:txBody>
      </p:sp>
      <p:sp>
        <p:nvSpPr>
          <p:cNvPr id="15" name="Text 13"/>
          <p:cNvSpPr txBox="1"/>
          <p:nvPr/>
        </p:nvSpPr>
        <p:spPr>
          <a:xfrm>
            <a:off x="9098280" y="2203704"/>
            <a:ext cx="2395728"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CHECKOUT CONVERSION</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sessions reaching checkout</a:t>
            </a:r>
            <a:endParaRPr lang="en-US" sz="1100" dirty="0"/>
          </a:p>
        </p:txBody>
      </p:sp>
      <p:sp>
        <p:nvSpPr>
          <p:cNvPr id="16" name="Shape 14"/>
          <p:cNvSpPr/>
          <p:nvPr/>
        </p:nvSpPr>
        <p:spPr>
          <a:xfrm>
            <a:off x="566928" y="2926080"/>
            <a:ext cx="2615184"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17" name="Text 15"/>
          <p:cNvSpPr txBox="1"/>
          <p:nvPr/>
        </p:nvSpPr>
        <p:spPr>
          <a:xfrm>
            <a:off x="704088" y="3035808"/>
            <a:ext cx="2340864" cy="658368"/>
          </a:xfrm>
          <a:prstGeom prst="rect">
            <a:avLst/>
          </a:prstGeom>
          <a:noFill/>
          <a:ln/>
        </p:spPr>
        <p:txBody>
          <a:bodyPr wrap="square" lIns="0" tIns="0" rIns="0" bIns="0" rtlCol="0" anchor="ctr"/>
          <a:lstStyle/>
          <a:p>
            <a:pPr marL="0" indent="0" algn="ctr">
              <a:buNone/>
            </a:pPr>
            <a:r>
              <a:rPr lang="en-US" sz="3200" b="1" dirty="0">
                <a:solidFill>
                  <a:srgbClr val="2E7D52"/>
                </a:solidFill>
                <a:latin typeface="Cambria" pitchFamily="34" charset="0"/>
                <a:ea typeface="Cambria" pitchFamily="34" charset="-122"/>
                <a:cs typeface="Cambria" pitchFamily="34" charset="-120"/>
              </a:rPr>
              <a:t>₹21.3 L</a:t>
            </a:r>
            <a:endParaRPr lang="en-US" sz="3200" dirty="0"/>
          </a:p>
        </p:txBody>
      </p:sp>
      <p:sp>
        <p:nvSpPr>
          <p:cNvPr id="18" name="Text 16"/>
          <p:cNvSpPr txBox="1"/>
          <p:nvPr/>
        </p:nvSpPr>
        <p:spPr>
          <a:xfrm>
            <a:off x="676656" y="3712464"/>
            <a:ext cx="2395728"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REVENUE RETAINED</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delivered and kept</a:t>
            </a:r>
            <a:endParaRPr lang="en-US" sz="1100" dirty="0"/>
          </a:p>
        </p:txBody>
      </p:sp>
      <p:sp>
        <p:nvSpPr>
          <p:cNvPr id="19" name="Shape 17"/>
          <p:cNvSpPr/>
          <p:nvPr/>
        </p:nvSpPr>
        <p:spPr>
          <a:xfrm>
            <a:off x="3374136" y="2926080"/>
            <a:ext cx="2615184"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20" name="Text 18"/>
          <p:cNvSpPr txBox="1"/>
          <p:nvPr/>
        </p:nvSpPr>
        <p:spPr>
          <a:xfrm>
            <a:off x="3511296" y="3035808"/>
            <a:ext cx="2340864" cy="658368"/>
          </a:xfrm>
          <a:prstGeom prst="rect">
            <a:avLst/>
          </a:prstGeom>
          <a:noFill/>
          <a:ln/>
        </p:spPr>
        <p:txBody>
          <a:bodyPr wrap="square" lIns="0" tIns="0" rIns="0" bIns="0" rtlCol="0" anchor="ctr"/>
          <a:lstStyle/>
          <a:p>
            <a:pPr marL="0" indent="0" algn="ctr">
              <a:buNone/>
            </a:pPr>
            <a:r>
              <a:rPr lang="en-US" sz="3200" b="1" dirty="0">
                <a:solidFill>
                  <a:srgbClr val="C1442E"/>
                </a:solidFill>
                <a:latin typeface="Cambria" pitchFamily="34" charset="0"/>
                <a:ea typeface="Cambria" pitchFamily="34" charset="-122"/>
                <a:cs typeface="Cambria" pitchFamily="34" charset="-120"/>
              </a:rPr>
              <a:t>₹2.67 L</a:t>
            </a:r>
            <a:endParaRPr lang="en-US" sz="3200" dirty="0"/>
          </a:p>
        </p:txBody>
      </p:sp>
      <p:sp>
        <p:nvSpPr>
          <p:cNvPr id="21" name="Text 19"/>
          <p:cNvSpPr txBox="1"/>
          <p:nvPr/>
        </p:nvSpPr>
        <p:spPr>
          <a:xfrm>
            <a:off x="3483864" y="3712464"/>
            <a:ext cx="2395728"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REVENUE LOST</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11.2% of GMV</a:t>
            </a:r>
            <a:endParaRPr lang="en-US" sz="1100" dirty="0"/>
          </a:p>
        </p:txBody>
      </p:sp>
      <p:sp>
        <p:nvSpPr>
          <p:cNvPr id="22" name="Shape 20"/>
          <p:cNvSpPr/>
          <p:nvPr/>
        </p:nvSpPr>
        <p:spPr>
          <a:xfrm>
            <a:off x="6181344" y="2926080"/>
            <a:ext cx="2615184"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23" name="Text 21"/>
          <p:cNvSpPr txBox="1"/>
          <p:nvPr/>
        </p:nvSpPr>
        <p:spPr>
          <a:xfrm>
            <a:off x="6318504" y="3035808"/>
            <a:ext cx="2340864" cy="658368"/>
          </a:xfrm>
          <a:prstGeom prst="rect">
            <a:avLst/>
          </a:prstGeom>
          <a:noFill/>
          <a:ln/>
        </p:spPr>
        <p:txBody>
          <a:bodyPr wrap="square" lIns="0" tIns="0" rIns="0" bIns="0" rtlCol="0" anchor="ctr"/>
          <a:lstStyle/>
          <a:p>
            <a:pPr marL="0" indent="0" algn="ctr">
              <a:buNone/>
            </a:pPr>
            <a:r>
              <a:rPr lang="en-US" sz="3200" b="1" dirty="0">
                <a:solidFill>
                  <a:srgbClr val="E9A13B"/>
                </a:solidFill>
                <a:latin typeface="Cambria" pitchFamily="34" charset="0"/>
                <a:ea typeface="Cambria" pitchFamily="34" charset="-122"/>
                <a:cs typeface="Cambria" pitchFamily="34" charset="-120"/>
              </a:rPr>
              <a:t>₹7.92 L</a:t>
            </a:r>
            <a:endParaRPr lang="en-US" sz="3200" dirty="0"/>
          </a:p>
        </p:txBody>
      </p:sp>
      <p:sp>
        <p:nvSpPr>
          <p:cNvPr id="24" name="Text 22"/>
          <p:cNvSpPr txBox="1"/>
          <p:nvPr/>
        </p:nvSpPr>
        <p:spPr>
          <a:xfrm>
            <a:off x="6291072" y="3712464"/>
            <a:ext cx="2395728"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ABANDONED CART VALUE</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37% of retained revenue</a:t>
            </a:r>
            <a:endParaRPr lang="en-US" sz="1100" dirty="0"/>
          </a:p>
        </p:txBody>
      </p:sp>
      <p:sp>
        <p:nvSpPr>
          <p:cNvPr id="25" name="Shape 23"/>
          <p:cNvSpPr/>
          <p:nvPr/>
        </p:nvSpPr>
        <p:spPr>
          <a:xfrm>
            <a:off x="8988552" y="2926080"/>
            <a:ext cx="2615184"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26" name="Text 24"/>
          <p:cNvSpPr txBox="1"/>
          <p:nvPr/>
        </p:nvSpPr>
        <p:spPr>
          <a:xfrm>
            <a:off x="9125712" y="3035808"/>
            <a:ext cx="2340864" cy="658368"/>
          </a:xfrm>
          <a:prstGeom prst="rect">
            <a:avLst/>
          </a:prstGeom>
          <a:noFill/>
          <a:ln/>
        </p:spPr>
        <p:txBody>
          <a:bodyPr wrap="square" lIns="0" tIns="0" rIns="0" bIns="0" rtlCol="0" anchor="ctr"/>
          <a:lstStyle/>
          <a:p>
            <a:pPr marL="0" indent="0" algn="ctr">
              <a:buNone/>
            </a:pPr>
            <a:r>
              <a:rPr lang="en-US" sz="3200" b="1" dirty="0">
                <a:solidFill>
                  <a:srgbClr val="12263F"/>
                </a:solidFill>
                <a:latin typeface="Cambria" pitchFamily="34" charset="0"/>
                <a:ea typeface="Cambria" pitchFamily="34" charset="-122"/>
                <a:cs typeface="Cambria" pitchFamily="34" charset="-120"/>
              </a:rPr>
              <a:t>231</a:t>
            </a:r>
            <a:endParaRPr lang="en-US" sz="3200" dirty="0"/>
          </a:p>
        </p:txBody>
      </p:sp>
      <p:sp>
        <p:nvSpPr>
          <p:cNvPr id="27" name="Text 25"/>
          <p:cNvSpPr txBox="1"/>
          <p:nvPr/>
        </p:nvSpPr>
        <p:spPr>
          <a:xfrm>
            <a:off x="9098280" y="3712464"/>
            <a:ext cx="2395728"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OPEN ALERTS</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from all four systems</a:t>
            </a:r>
            <a:endParaRPr lang="en-US" sz="1100" dirty="0"/>
          </a:p>
        </p:txBody>
      </p:sp>
      <p:sp>
        <p:nvSpPr>
          <p:cNvPr id="28" name="Text 26"/>
          <p:cNvSpPr txBox="1"/>
          <p:nvPr/>
        </p:nvSpPr>
        <p:spPr>
          <a:xfrm>
            <a:off x="566928" y="4526280"/>
            <a:ext cx="11064240" cy="640080"/>
          </a:xfrm>
          <a:prstGeom prst="rect">
            <a:avLst/>
          </a:prstGeom>
          <a:noFill/>
          <a:ln/>
        </p:spPr>
        <p:txBody>
          <a:bodyPr wrap="square" lIns="0" tIns="0" rIns="0" bIns="0" rtlCol="0" anchor="ctr"/>
          <a:lstStyle/>
          <a:p>
            <a:pPr marL="0" indent="0">
              <a:buNone/>
            </a:pPr>
            <a:r>
              <a:rPr lang="en-US" sz="1400" i="1" dirty="0">
                <a:solidFill>
                  <a:srgbClr val="33465C"/>
                </a:solidFill>
                <a:latin typeface="Calibri" pitchFamily="34" charset="0"/>
                <a:ea typeface="Calibri" pitchFamily="34" charset="-122"/>
                <a:cs typeface="Calibri" pitchFamily="34" charset="-120"/>
              </a:rPr>
              <a:t>The point is not the dashboard. It is that these eight numbers come from four systems that previously could not be compared, and that every one of them is actionable within minutes rather than the next morning.</a:t>
            </a:r>
            <a:endParaRPr lang="en-US" sz="1400" dirty="0"/>
          </a:p>
        </p:txBody>
      </p:sp>
      <p:sp>
        <p:nvSpPr>
          <p:cNvPr id="29" name="Shape 27"/>
          <p:cNvSpPr/>
          <p:nvPr/>
        </p:nvSpPr>
        <p:spPr>
          <a:xfrm>
            <a:off x="566928" y="525780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30" name="Text 28"/>
          <p:cNvSpPr txBox="1"/>
          <p:nvPr/>
        </p:nvSpPr>
        <p:spPr>
          <a:xfrm>
            <a:off x="795528" y="536752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₹2.67 L lost and ₹7.92 L abandoned on 251 orders. The loss is not one number — it has three different owners, and we can now name them.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Architecture</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9 services · 14 Kafka topics · 5 consumer groups · 13 MongoDB collections</a:t>
            </a:r>
            <a:endParaRPr lang="en-US" sz="1400" dirty="0"/>
          </a:p>
        </p:txBody>
      </p:sp>
      <p:pic>
        <p:nvPicPr>
          <p:cNvPr id="4" name="Image 0" descr="arch.png"/>
          <p:cNvPicPr>
            <a:picLocks noChangeAspect="1"/>
          </p:cNvPicPr>
          <p:nvPr/>
        </p:nvPicPr>
        <p:blipFill>
          <a:blip r:embed="rId3"/>
          <a:stretch>
            <a:fillRect/>
          </a:stretch>
        </p:blipFill>
        <p:spPr>
          <a:xfrm>
            <a:off x="384048" y="1234440"/>
            <a:ext cx="11430000" cy="4572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One Platform, Not Four Demos</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The systems do not just share a database — they drive each other's decisions</a:t>
            </a:r>
            <a:endParaRPr lang="en-US" sz="1400" dirty="0"/>
          </a:p>
        </p:txBody>
      </p:sp>
      <p:sp>
        <p:nvSpPr>
          <p:cNvPr id="4" name="Shape 2"/>
          <p:cNvSpPr/>
          <p:nvPr/>
        </p:nvSpPr>
        <p:spPr>
          <a:xfrm>
            <a:off x="566928" y="1481328"/>
            <a:ext cx="566928" cy="566928"/>
          </a:xfrm>
          <a:prstGeom prst="ellipse">
            <a:avLst/>
          </a:prstGeom>
          <a:solidFill>
            <a:srgbClr val="11828A"/>
          </a:solidFill>
          <a:ln w="12700">
            <a:solidFill>
              <a:srgbClr val="11828A"/>
            </a:solidFill>
            <a:prstDash val="solid"/>
          </a:ln>
        </p:spPr>
        <p:txBody>
          <a:bodyPr/>
          <a:lstStyle/>
          <a:p>
            <a:endParaRPr lang="en-IN"/>
          </a:p>
        </p:txBody>
      </p:sp>
      <p:sp>
        <p:nvSpPr>
          <p:cNvPr id="5" name="Text 3"/>
          <p:cNvSpPr txBox="1"/>
          <p:nvPr/>
        </p:nvSpPr>
        <p:spPr>
          <a:xfrm>
            <a:off x="566928" y="1591056"/>
            <a:ext cx="566928"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CLK</a:t>
            </a:r>
            <a:endParaRPr lang="en-US" sz="1100" dirty="0"/>
          </a:p>
        </p:txBody>
      </p:sp>
      <p:sp>
        <p:nvSpPr>
          <p:cNvPr id="6" name="Text 4"/>
          <p:cNvSpPr txBox="1"/>
          <p:nvPr/>
        </p:nvSpPr>
        <p:spPr>
          <a:xfrm>
            <a:off x="1344168" y="1463040"/>
            <a:ext cx="3931920" cy="32004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Shopper checks out</a:t>
            </a:r>
            <a:endParaRPr lang="en-US" sz="1500" dirty="0"/>
          </a:p>
        </p:txBody>
      </p:sp>
      <p:sp>
        <p:nvSpPr>
          <p:cNvPr id="7" name="Text 5"/>
          <p:cNvSpPr txBox="1"/>
          <p:nvPr/>
        </p:nvSpPr>
        <p:spPr>
          <a:xfrm>
            <a:off x="1344168" y="1773936"/>
            <a:ext cx="4572000" cy="292608"/>
          </a:xfrm>
          <a:prstGeom prst="rect">
            <a:avLst/>
          </a:prstGeom>
          <a:noFill/>
          <a:ln/>
        </p:spPr>
        <p:txBody>
          <a:bodyPr wrap="square" lIns="0" tIns="0" rIns="0" bIns="0" rtlCol="0" anchor="ctr"/>
          <a:lstStyle/>
          <a:p>
            <a:pPr marL="0" indent="0">
              <a:buNone/>
            </a:pPr>
            <a:r>
              <a:rPr lang="en-US" sz="1200" dirty="0">
                <a:solidFill>
                  <a:srgbClr val="6B7A8C"/>
                </a:solidFill>
                <a:latin typeface="Calibri" pitchFamily="34" charset="0"/>
                <a:ea typeface="Calibri" pitchFamily="34" charset="-122"/>
                <a:cs typeface="Calibri" pitchFamily="34" charset="-120"/>
              </a:rPr>
              <a:t>publishes checkout intent</a:t>
            </a:r>
            <a:endParaRPr lang="en-US" sz="1200" dirty="0"/>
          </a:p>
        </p:txBody>
      </p:sp>
      <p:sp>
        <p:nvSpPr>
          <p:cNvPr id="8" name="Shape 6"/>
          <p:cNvSpPr/>
          <p:nvPr/>
        </p:nvSpPr>
        <p:spPr>
          <a:xfrm>
            <a:off x="566928" y="2167128"/>
            <a:ext cx="566928" cy="566928"/>
          </a:xfrm>
          <a:prstGeom prst="ellipse">
            <a:avLst/>
          </a:prstGeom>
          <a:solidFill>
            <a:srgbClr val="11828A"/>
          </a:solidFill>
          <a:ln w="12700">
            <a:solidFill>
              <a:srgbClr val="11828A"/>
            </a:solidFill>
            <a:prstDash val="solid"/>
          </a:ln>
        </p:spPr>
        <p:txBody>
          <a:bodyPr/>
          <a:lstStyle/>
          <a:p>
            <a:endParaRPr lang="en-IN"/>
          </a:p>
        </p:txBody>
      </p:sp>
      <p:sp>
        <p:nvSpPr>
          <p:cNvPr id="9" name="Text 7"/>
          <p:cNvSpPr txBox="1"/>
          <p:nvPr/>
        </p:nvSpPr>
        <p:spPr>
          <a:xfrm>
            <a:off x="566928" y="2276856"/>
            <a:ext cx="566928"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OMS</a:t>
            </a:r>
            <a:endParaRPr lang="en-US" sz="1100" dirty="0"/>
          </a:p>
        </p:txBody>
      </p:sp>
      <p:sp>
        <p:nvSpPr>
          <p:cNvPr id="10" name="Text 8"/>
          <p:cNvSpPr txBox="1"/>
          <p:nvPr/>
        </p:nvSpPr>
        <p:spPr>
          <a:xfrm>
            <a:off x="1344168" y="2148840"/>
            <a:ext cx="3931920" cy="32004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Order created</a:t>
            </a:r>
            <a:endParaRPr lang="en-US" sz="1500" dirty="0"/>
          </a:p>
        </p:txBody>
      </p:sp>
      <p:sp>
        <p:nvSpPr>
          <p:cNvPr id="11" name="Text 9"/>
          <p:cNvSpPr txBox="1"/>
          <p:nvPr/>
        </p:nvSpPr>
        <p:spPr>
          <a:xfrm>
            <a:off x="1344168" y="2459736"/>
            <a:ext cx="4572000" cy="292608"/>
          </a:xfrm>
          <a:prstGeom prst="rect">
            <a:avLst/>
          </a:prstGeom>
          <a:noFill/>
          <a:ln/>
        </p:spPr>
        <p:txBody>
          <a:bodyPr wrap="square" lIns="0" tIns="0" rIns="0" bIns="0" rtlCol="0" anchor="ctr"/>
          <a:lstStyle/>
          <a:p>
            <a:pPr marL="0" indent="0">
              <a:buNone/>
            </a:pPr>
            <a:r>
              <a:rPr lang="en-US" sz="1200" dirty="0">
                <a:solidFill>
                  <a:srgbClr val="6B7A8C"/>
                </a:solidFill>
                <a:latin typeface="Calibri" pitchFamily="34" charset="0"/>
                <a:ea typeface="Calibri" pitchFamily="34" charset="-122"/>
                <a:cs typeface="Calibri" pitchFamily="34" charset="-120"/>
              </a:rPr>
              <a:t>asks PMS to collect</a:t>
            </a:r>
            <a:endParaRPr lang="en-US" sz="1200" dirty="0"/>
          </a:p>
        </p:txBody>
      </p:sp>
      <p:sp>
        <p:nvSpPr>
          <p:cNvPr id="12" name="Shape 10"/>
          <p:cNvSpPr/>
          <p:nvPr/>
        </p:nvSpPr>
        <p:spPr>
          <a:xfrm>
            <a:off x="566928" y="2852928"/>
            <a:ext cx="566928" cy="566928"/>
          </a:xfrm>
          <a:prstGeom prst="ellipse">
            <a:avLst/>
          </a:prstGeom>
          <a:solidFill>
            <a:srgbClr val="11828A"/>
          </a:solidFill>
          <a:ln w="12700">
            <a:solidFill>
              <a:srgbClr val="11828A"/>
            </a:solidFill>
            <a:prstDash val="solid"/>
          </a:ln>
        </p:spPr>
        <p:txBody>
          <a:bodyPr/>
          <a:lstStyle/>
          <a:p>
            <a:endParaRPr lang="en-IN"/>
          </a:p>
        </p:txBody>
      </p:sp>
      <p:sp>
        <p:nvSpPr>
          <p:cNvPr id="13" name="Text 11"/>
          <p:cNvSpPr txBox="1"/>
          <p:nvPr/>
        </p:nvSpPr>
        <p:spPr>
          <a:xfrm>
            <a:off x="566928" y="2962656"/>
            <a:ext cx="566928"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PMS</a:t>
            </a:r>
            <a:endParaRPr lang="en-US" sz="1100" dirty="0"/>
          </a:p>
        </p:txBody>
      </p:sp>
      <p:sp>
        <p:nvSpPr>
          <p:cNvPr id="14" name="Text 12"/>
          <p:cNvSpPr txBox="1"/>
          <p:nvPr/>
        </p:nvSpPr>
        <p:spPr>
          <a:xfrm>
            <a:off x="1344168" y="2834640"/>
            <a:ext cx="3931920" cy="32004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Payment resolved</a:t>
            </a:r>
            <a:endParaRPr lang="en-US" sz="1500" dirty="0"/>
          </a:p>
        </p:txBody>
      </p:sp>
      <p:sp>
        <p:nvSpPr>
          <p:cNvPr id="15" name="Text 13"/>
          <p:cNvSpPr txBox="1"/>
          <p:nvPr/>
        </p:nvSpPr>
        <p:spPr>
          <a:xfrm>
            <a:off x="1344168" y="3145536"/>
            <a:ext cx="4572000" cy="292608"/>
          </a:xfrm>
          <a:prstGeom prst="rect">
            <a:avLst/>
          </a:prstGeom>
          <a:noFill/>
          <a:ln/>
        </p:spPr>
        <p:txBody>
          <a:bodyPr wrap="square" lIns="0" tIns="0" rIns="0" bIns="0" rtlCol="0" anchor="ctr"/>
          <a:lstStyle/>
          <a:p>
            <a:pPr marL="0" indent="0">
              <a:buNone/>
            </a:pPr>
            <a:r>
              <a:rPr lang="en-US" sz="1200" dirty="0">
                <a:solidFill>
                  <a:srgbClr val="6B7A8C"/>
                </a:solidFill>
                <a:latin typeface="Calibri" pitchFamily="34" charset="0"/>
                <a:ea typeface="Calibri" pitchFamily="34" charset="-122"/>
                <a:cs typeface="Calibri" pitchFamily="34" charset="-120"/>
              </a:rPr>
              <a:t>result decides confirm or cancel</a:t>
            </a:r>
            <a:endParaRPr lang="en-US" sz="1200" dirty="0"/>
          </a:p>
        </p:txBody>
      </p:sp>
      <p:sp>
        <p:nvSpPr>
          <p:cNvPr id="16" name="Shape 14"/>
          <p:cNvSpPr/>
          <p:nvPr/>
        </p:nvSpPr>
        <p:spPr>
          <a:xfrm>
            <a:off x="566928" y="3538728"/>
            <a:ext cx="566928" cy="566928"/>
          </a:xfrm>
          <a:prstGeom prst="ellipse">
            <a:avLst/>
          </a:prstGeom>
          <a:solidFill>
            <a:srgbClr val="11828A"/>
          </a:solidFill>
          <a:ln w="12700">
            <a:solidFill>
              <a:srgbClr val="11828A"/>
            </a:solidFill>
            <a:prstDash val="solid"/>
          </a:ln>
        </p:spPr>
        <p:txBody>
          <a:bodyPr/>
          <a:lstStyle/>
          <a:p>
            <a:endParaRPr lang="en-IN"/>
          </a:p>
        </p:txBody>
      </p:sp>
      <p:sp>
        <p:nvSpPr>
          <p:cNvPr id="17" name="Text 15"/>
          <p:cNvSpPr txBox="1"/>
          <p:nvPr/>
        </p:nvSpPr>
        <p:spPr>
          <a:xfrm>
            <a:off x="566928" y="3648456"/>
            <a:ext cx="566928"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IMS</a:t>
            </a:r>
            <a:endParaRPr lang="en-US" sz="1100" dirty="0"/>
          </a:p>
        </p:txBody>
      </p:sp>
      <p:sp>
        <p:nvSpPr>
          <p:cNvPr id="18" name="Text 16"/>
          <p:cNvSpPr txBox="1"/>
          <p:nvPr/>
        </p:nvSpPr>
        <p:spPr>
          <a:xfrm>
            <a:off x="1344168" y="3520440"/>
            <a:ext cx="3931920" cy="32004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Stock reserved, then issued</a:t>
            </a:r>
            <a:endParaRPr lang="en-US" sz="1500" dirty="0"/>
          </a:p>
        </p:txBody>
      </p:sp>
      <p:sp>
        <p:nvSpPr>
          <p:cNvPr id="19" name="Text 17"/>
          <p:cNvSpPr txBox="1"/>
          <p:nvPr/>
        </p:nvSpPr>
        <p:spPr>
          <a:xfrm>
            <a:off x="1344168" y="3831336"/>
            <a:ext cx="4572000" cy="292608"/>
          </a:xfrm>
          <a:prstGeom prst="rect">
            <a:avLst/>
          </a:prstGeom>
          <a:noFill/>
          <a:ln/>
        </p:spPr>
        <p:txBody>
          <a:bodyPr wrap="square" lIns="0" tIns="0" rIns="0" bIns="0" rtlCol="0" anchor="ctr"/>
          <a:lstStyle/>
          <a:p>
            <a:pPr marL="0" indent="0">
              <a:buNone/>
            </a:pPr>
            <a:r>
              <a:rPr lang="en-US" sz="1200" dirty="0">
                <a:solidFill>
                  <a:srgbClr val="6B7A8C"/>
                </a:solidFill>
                <a:latin typeface="Calibri" pitchFamily="34" charset="0"/>
                <a:ea typeface="Calibri" pitchFamily="34" charset="-122"/>
                <a:cs typeface="Calibri" pitchFamily="34" charset="-120"/>
              </a:rPr>
              <a:t>available stock falls to zero</a:t>
            </a:r>
            <a:endParaRPr lang="en-US" sz="1200" dirty="0"/>
          </a:p>
        </p:txBody>
      </p:sp>
      <p:sp>
        <p:nvSpPr>
          <p:cNvPr id="20" name="Shape 18"/>
          <p:cNvSpPr/>
          <p:nvPr/>
        </p:nvSpPr>
        <p:spPr>
          <a:xfrm>
            <a:off x="566928" y="4224528"/>
            <a:ext cx="566928" cy="566928"/>
          </a:xfrm>
          <a:prstGeom prst="ellipse">
            <a:avLst/>
          </a:prstGeom>
          <a:solidFill>
            <a:srgbClr val="E9A13B"/>
          </a:solidFill>
          <a:ln w="12700">
            <a:solidFill>
              <a:srgbClr val="E9A13B"/>
            </a:solidFill>
            <a:prstDash val="solid"/>
          </a:ln>
        </p:spPr>
        <p:txBody>
          <a:bodyPr/>
          <a:lstStyle/>
          <a:p>
            <a:endParaRPr lang="en-IN"/>
          </a:p>
        </p:txBody>
      </p:sp>
      <p:sp>
        <p:nvSpPr>
          <p:cNvPr id="21" name="Text 19"/>
          <p:cNvSpPr txBox="1"/>
          <p:nvPr/>
        </p:nvSpPr>
        <p:spPr>
          <a:xfrm>
            <a:off x="566928" y="4334256"/>
            <a:ext cx="566928"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OMS</a:t>
            </a:r>
            <a:endParaRPr lang="en-US" sz="1100" dirty="0"/>
          </a:p>
        </p:txBody>
      </p:sp>
      <p:sp>
        <p:nvSpPr>
          <p:cNvPr id="22" name="Text 20"/>
          <p:cNvSpPr txBox="1"/>
          <p:nvPr/>
        </p:nvSpPr>
        <p:spPr>
          <a:xfrm>
            <a:off x="1344168" y="4206240"/>
            <a:ext cx="3931920" cy="32004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SKU delisted, orders cancelled</a:t>
            </a:r>
            <a:endParaRPr lang="en-US" sz="1500" dirty="0"/>
          </a:p>
        </p:txBody>
      </p:sp>
      <p:sp>
        <p:nvSpPr>
          <p:cNvPr id="23" name="Text 21"/>
          <p:cNvSpPr txBox="1"/>
          <p:nvPr/>
        </p:nvSpPr>
        <p:spPr>
          <a:xfrm>
            <a:off x="1344168" y="4517136"/>
            <a:ext cx="4572000" cy="292608"/>
          </a:xfrm>
          <a:prstGeom prst="rect">
            <a:avLst/>
          </a:prstGeom>
          <a:noFill/>
          <a:ln/>
        </p:spPr>
        <p:txBody>
          <a:bodyPr wrap="square" lIns="0" tIns="0" rIns="0" bIns="0" rtlCol="0" anchor="ctr"/>
          <a:lstStyle/>
          <a:p>
            <a:pPr marL="0" indent="0">
              <a:buNone/>
            </a:pPr>
            <a:r>
              <a:rPr lang="en-US" sz="1200" dirty="0">
                <a:solidFill>
                  <a:srgbClr val="6B7A8C"/>
                </a:solidFill>
                <a:latin typeface="Calibri" pitchFamily="34" charset="0"/>
                <a:ea typeface="Calibri" pitchFamily="34" charset="-122"/>
                <a:cs typeface="Calibri" pitchFamily="34" charset="-120"/>
              </a:rPr>
              <a:t>relisted when the PO lands</a:t>
            </a:r>
            <a:endParaRPr lang="en-US" sz="1200" dirty="0"/>
          </a:p>
        </p:txBody>
      </p:sp>
      <p:sp>
        <p:nvSpPr>
          <p:cNvPr id="24" name="Shape 22"/>
          <p:cNvSpPr/>
          <p:nvPr/>
        </p:nvSpPr>
        <p:spPr>
          <a:xfrm>
            <a:off x="6035040" y="1463040"/>
            <a:ext cx="5577840" cy="3200400"/>
          </a:xfrm>
          <a:prstGeom prst="roundRect">
            <a:avLst>
              <a:gd name="adj" fmla="val 2286"/>
            </a:avLst>
          </a:prstGeom>
          <a:solidFill>
            <a:srgbClr val="F4F6F8"/>
          </a:solidFill>
          <a:ln w="12700">
            <a:solidFill>
              <a:srgbClr val="F4F6F8"/>
            </a:solidFill>
            <a:prstDash val="solid"/>
          </a:ln>
        </p:spPr>
        <p:txBody>
          <a:bodyPr/>
          <a:lstStyle/>
          <a:p>
            <a:endParaRPr lang="en-IN"/>
          </a:p>
        </p:txBody>
      </p:sp>
      <p:sp>
        <p:nvSpPr>
          <p:cNvPr id="25" name="Text 23"/>
          <p:cNvSpPr txBox="1"/>
          <p:nvPr/>
        </p:nvSpPr>
        <p:spPr>
          <a:xfrm>
            <a:off x="6309360" y="1664208"/>
            <a:ext cx="5029200" cy="320040"/>
          </a:xfrm>
          <a:prstGeom prst="rect">
            <a:avLst/>
          </a:prstGeom>
          <a:noFill/>
          <a:ln/>
        </p:spPr>
        <p:txBody>
          <a:bodyPr wrap="square" lIns="0" tIns="0" rIns="0" bIns="0" rtlCol="0" anchor="ctr"/>
          <a:lstStyle/>
          <a:p>
            <a:pPr marL="0" indent="0">
              <a:buNone/>
            </a:pPr>
            <a:r>
              <a:rPr lang="en-US" sz="1600" b="1" dirty="0">
                <a:solidFill>
                  <a:srgbClr val="12263F"/>
                </a:solidFill>
                <a:latin typeface="Calibri" pitchFamily="34" charset="0"/>
                <a:ea typeface="Calibri" pitchFamily="34" charset="-122"/>
                <a:cs typeface="Calibri" pitchFamily="34" charset="-120"/>
              </a:rPr>
              <a:t>The decision no single system can make</a:t>
            </a:r>
            <a:endParaRPr lang="en-US" sz="1600" dirty="0"/>
          </a:p>
        </p:txBody>
      </p:sp>
      <p:sp>
        <p:nvSpPr>
          <p:cNvPr id="26" name="Text 24"/>
          <p:cNvSpPr txBox="1"/>
          <p:nvPr/>
        </p:nvSpPr>
        <p:spPr>
          <a:xfrm>
            <a:off x="6309360" y="2057400"/>
            <a:ext cx="5029200" cy="1097280"/>
          </a:xfrm>
          <a:prstGeom prst="rect">
            <a:avLst/>
          </a:prstGeom>
          <a:noFill/>
          <a:ln/>
        </p:spPr>
        <p:txBody>
          <a:bodyPr wrap="square" lIns="0" tIns="0" rIns="0" bIns="0" rtlCol="0" anchor="ctr"/>
          <a:lstStyle/>
          <a:p>
            <a:pPr marL="0" indent="0">
              <a:buNone/>
            </a:pPr>
            <a:r>
              <a:rPr lang="en-US" sz="1300" dirty="0">
                <a:solidFill>
                  <a:srgbClr val="33465C"/>
                </a:solidFill>
                <a:latin typeface="Calibri" pitchFamily="34" charset="0"/>
                <a:ea typeface="Calibri" pitchFamily="34" charset="-122"/>
                <a:cs typeface="Calibri" pitchFamily="34" charset="-120"/>
              </a:rPr>
              <a:t>When the Inventory system declares a SKU unsellable, the Order Management system — a consumer of IMS's own alert topic — delists it and cancels the open orders that cannot ship. When a purchase order lands, OMS relists it.</a:t>
            </a:r>
            <a:endParaRPr lang="en-US" sz="1300" dirty="0"/>
          </a:p>
        </p:txBody>
      </p:sp>
      <p:sp>
        <p:nvSpPr>
          <p:cNvPr id="27" name="Text 25"/>
          <p:cNvSpPr txBox="1"/>
          <p:nvPr/>
        </p:nvSpPr>
        <p:spPr>
          <a:xfrm>
            <a:off x="6309360" y="3154680"/>
            <a:ext cx="5029200" cy="1280160"/>
          </a:xfrm>
          <a:prstGeom prst="rect">
            <a:avLst/>
          </a:prstGeom>
          <a:noFill/>
          <a:ln/>
        </p:spPr>
        <p:txBody>
          <a:bodyPr wrap="square" lIns="0" tIns="0" rIns="0" bIns="0" rtlCol="0" anchor="ctr"/>
          <a:lstStyle/>
          <a:p>
            <a:pPr marL="0" indent="0">
              <a:lnSpc>
                <a:spcPts val="2000"/>
              </a:lnSpc>
              <a:buNone/>
            </a:pPr>
            <a:r>
              <a:rPr lang="en-US" sz="1300" b="1" dirty="0">
                <a:solidFill>
                  <a:srgbClr val="12263F"/>
                </a:solidFill>
                <a:latin typeface="Calibri" pitchFamily="34" charset="0"/>
                <a:ea typeface="Calibri" pitchFamily="34" charset="-122"/>
                <a:cs typeface="Calibri" pitchFamily="34" charset="-120"/>
              </a:rPr>
              <a:t>Inventory alone cannot cancel an order.</a:t>
            </a:r>
            <a:endParaRPr lang="en-US" sz="1300" dirty="0"/>
          </a:p>
          <a:p>
            <a:pPr marL="0" indent="0">
              <a:lnSpc>
                <a:spcPts val="2000"/>
              </a:lnSpc>
              <a:buNone/>
            </a:pPr>
            <a:r>
              <a:rPr lang="en-US" sz="1300" b="1" dirty="0">
                <a:solidFill>
                  <a:srgbClr val="12263F"/>
                </a:solidFill>
                <a:latin typeface="Calibri" pitchFamily="34" charset="0"/>
                <a:ea typeface="Calibri" pitchFamily="34" charset="-122"/>
                <a:cs typeface="Calibri" pitchFamily="34" charset="-120"/>
              </a:rPr>
              <a:t>Order Management alone cannot know the stock is gone.</a:t>
            </a:r>
            <a:endParaRPr lang="en-US" sz="1300" dirty="0"/>
          </a:p>
          <a:p>
            <a:pPr marL="0" indent="0">
              <a:lnSpc>
                <a:spcPts val="2000"/>
              </a:lnSpc>
              <a:buNone/>
            </a:pPr>
            <a:r>
              <a:rPr lang="en-US" sz="1300" b="1" dirty="0">
                <a:solidFill>
                  <a:srgbClr val="12263F"/>
                </a:solidFill>
                <a:latin typeface="Calibri" pitchFamily="34" charset="0"/>
                <a:ea typeface="Calibri" pitchFamily="34" charset="-122"/>
                <a:cs typeface="Calibri" pitchFamily="34" charset="-120"/>
              </a:rPr>
              <a:t>An overnight batch job would learn both — after the platform had taken more orders it could not ship.</a:t>
            </a:r>
            <a:endParaRPr lang="en-US" sz="1300" dirty="0"/>
          </a:p>
        </p:txBody>
      </p:sp>
      <p:sp>
        <p:nvSpPr>
          <p:cNvPr id="28" name="Shape 26"/>
          <p:cNvSpPr/>
          <p:nvPr/>
        </p:nvSpPr>
        <p:spPr>
          <a:xfrm>
            <a:off x="566928" y="512064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29" name="Text 27"/>
          <p:cNvSpPr txBox="1"/>
          <p:nvPr/>
        </p:nvSpPr>
        <p:spPr>
          <a:xfrm>
            <a:off x="795528" y="523036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₹11,821 of stock-out cancellations were caught and attributed automatically — demand that existed while the stock did not.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Data Sources and Volume</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One shared master catalog — 4 warehouses, 6 categories — so every system refers to the same SKU</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08760"/>
          <a:ext cx="11064240" cy="2505456"/>
        </p:xfrm>
        <a:graphic>
          <a:graphicData uri="http://schemas.openxmlformats.org/drawingml/2006/table">
            <a:tbl>
              <a:tblPr/>
              <a:tblGrid>
                <a:gridCol w="22860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475488">
                <a:tc>
                  <a:txBody>
                    <a:bodyPr/>
                    <a:lstStyle/>
                    <a:p>
                      <a:pPr marL="0" indent="0">
                        <a:buNone/>
                      </a:pPr>
                      <a:r>
                        <a:rPr lang="en-US" sz="1200" b="1" dirty="0">
                          <a:solidFill>
                            <a:srgbClr val="22303F"/>
                          </a:solidFill>
                          <a:latin typeface="Calibri" pitchFamily="34" charset="0"/>
                          <a:ea typeface="Calibri" pitchFamily="34" charset="-122"/>
                          <a:cs typeface="Calibri" pitchFamily="34" charset="-120"/>
                        </a:rPr>
                        <a:t>System</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b="1" dirty="0">
                          <a:solidFill>
                            <a:srgbClr val="22303F"/>
                          </a:solidFill>
                          <a:latin typeface="Calibri" pitchFamily="34" charset="0"/>
                          <a:ea typeface="Calibri" pitchFamily="34" charset="-122"/>
                          <a:cs typeface="Calibri" pitchFamily="34" charset="-120"/>
                        </a:rPr>
                        <a:t>Key fields</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b="1" dirty="0">
                          <a:solidFill>
                            <a:srgbClr val="22303F"/>
                          </a:solidFill>
                          <a:latin typeface="Calibri" pitchFamily="34" charset="0"/>
                          <a:ea typeface="Calibri" pitchFamily="34" charset="-122"/>
                          <a:cs typeface="Calibri" pitchFamily="34" charset="-120"/>
                        </a:rPr>
                        <a:t>Topics</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b="1" dirty="0">
                          <a:solidFill>
                            <a:srgbClr val="22303F"/>
                          </a:solidFill>
                          <a:latin typeface="Calibri" pitchFamily="34" charset="0"/>
                          <a:ea typeface="Calibri" pitchFamily="34" charset="-122"/>
                          <a:cs typeface="Calibri" pitchFamily="34" charset="-120"/>
                        </a:rPr>
                        <a:t>Share of events</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CLK — Clickstream</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session, device, channel, search term, results_count, cart value</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2,451 page views · 840 clicks · 417 cart · 250 checkout</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OMS — Order Mgmt</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order_id, SKU, qty, order value, status, cancellation cause</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864 orders · 469 fulfilment · 48 cancellations</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PMS — Payment</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transaction, method, gateway, attempt no., failure reason, fraud tag</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321 transactions · 244 requests · 244 results</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IMS — Inventory</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SKU, warehouse, qty change, stock on hand, PO, supplier, fill rate</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633 stock movements · 44 POs · 26 stock alerts</a:t>
                      </a:r>
                      <a:endParaRPr lang="en-US" sz="120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66928" y="4206240"/>
            <a:ext cx="5486400" cy="32004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Volume justification</a:t>
            </a:r>
            <a:endParaRPr lang="en-US" sz="1500" dirty="0"/>
          </a:p>
        </p:txBody>
      </p:sp>
      <p:sp>
        <p:nvSpPr>
          <p:cNvPr id="6" name="Text 3"/>
          <p:cNvSpPr txBox="1"/>
          <p:nvPr/>
        </p:nvSpPr>
        <p:spPr>
          <a:xfrm>
            <a:off x="658368" y="4526280"/>
            <a:ext cx="10881360" cy="137160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22303F"/>
                </a:solidFill>
                <a:latin typeface="Calibri" pitchFamily="34" charset="0"/>
                <a:ea typeface="Calibri" pitchFamily="34" charset="-122"/>
                <a:cs typeface="Calibri" pitchFamily="34" charset="-120"/>
              </a:rPr>
              <a:t>Clickstream carried 2,451 page views against 244 payment transactions — a 10:1 ratio, which is why the two cannot share a consumer or a partition count</a:t>
            </a:r>
            <a:endParaRPr lang="en-US" sz="1300" dirty="0"/>
          </a:p>
          <a:p>
            <a:pPr marL="342900" indent="-342900">
              <a:spcAft>
                <a:spcPts val="700"/>
              </a:spcAft>
              <a:buSzPct val="100000"/>
              <a:buChar char="•"/>
            </a:pPr>
            <a:r>
              <a:rPr lang="en-US" sz="1300" dirty="0">
                <a:solidFill>
                  <a:srgbClr val="22303F"/>
                </a:solidFill>
                <a:latin typeface="Calibri" pitchFamily="34" charset="0"/>
                <a:ea typeface="Calibri" pitchFamily="34" charset="-122"/>
                <a:cs typeface="Calibri" pitchFamily="34" charset="-120"/>
              </a:rPr>
              <a:t>Messages run 0.4–1.5 KB; scaled to 50,000 orders/day the same ratios give roughly 2 million events and 0.6–2 GB per day — within a three-broker cluster</a:t>
            </a:r>
            <a:endParaRPr lang="en-US" sz="1300" dirty="0"/>
          </a:p>
          <a:p>
            <a:pPr marL="342900" indent="-342900">
              <a:spcAft>
                <a:spcPts val="700"/>
              </a:spcAft>
              <a:buSzPct val="100000"/>
              <a:buChar char="•"/>
            </a:pPr>
            <a:r>
              <a:rPr lang="en-US" sz="1300" dirty="0">
                <a:solidFill>
                  <a:srgbClr val="22303F"/>
                </a:solidFill>
                <a:latin typeface="Calibri" pitchFamily="34" charset="0"/>
                <a:ea typeface="Calibri" pitchFamily="34" charset="-122"/>
                <a:cs typeface="Calibri" pitchFamily="34" charset="-120"/>
              </a:rPr>
              <a:t>Keys: order_id, sku:warehouse, session_id — so all events for one entity land in one partition and stay in order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Insight 1 — Lost Revenue Has Three Owners</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Chart 3.2 · lost revenue grouped by the cause recorded at cancellation</a:t>
            </a:r>
            <a:endParaRPr lang="en-US" sz="1400" dirty="0"/>
          </a:p>
        </p:txBody>
      </p:sp>
      <p:graphicFrame>
        <p:nvGraphicFramePr>
          <p:cNvPr id="4" name="Chart 0"/>
          <p:cNvGraphicFramePr/>
          <p:nvPr/>
        </p:nvGraphicFramePr>
        <p:xfrm>
          <a:off x="566928" y="1463040"/>
          <a:ext cx="63093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086600" y="1463040"/>
            <a:ext cx="4526280" cy="3566160"/>
          </a:xfrm>
          <a:prstGeom prst="roundRect">
            <a:avLst>
              <a:gd name="adj" fmla="val 2051"/>
            </a:avLst>
          </a:prstGeom>
          <a:solidFill>
            <a:srgbClr val="F4F6F8"/>
          </a:solidFill>
          <a:ln w="12700">
            <a:solidFill>
              <a:srgbClr val="F4F6F8"/>
            </a:solidFill>
            <a:prstDash val="solid"/>
          </a:ln>
        </p:spPr>
        <p:txBody>
          <a:bodyPr/>
          <a:lstStyle/>
          <a:p>
            <a:endParaRPr lang="en-IN"/>
          </a:p>
        </p:txBody>
      </p:sp>
      <p:sp>
        <p:nvSpPr>
          <p:cNvPr id="6" name="Text 3"/>
          <p:cNvSpPr txBox="1"/>
          <p:nvPr/>
        </p:nvSpPr>
        <p:spPr>
          <a:xfrm>
            <a:off x="7315200" y="1645920"/>
            <a:ext cx="4114800" cy="320040"/>
          </a:xfrm>
          <a:prstGeom prst="rect">
            <a:avLst/>
          </a:prstGeom>
          <a:noFill/>
          <a:ln/>
        </p:spPr>
        <p:txBody>
          <a:bodyPr wrap="square" lIns="0" tIns="0" rIns="0" bIns="0" rtlCol="0" anchor="ctr"/>
          <a:lstStyle/>
          <a:p>
            <a:pPr marL="0" indent="0">
              <a:buNone/>
            </a:pPr>
            <a:r>
              <a:rPr lang="en-US" sz="1600" b="1" dirty="0">
                <a:solidFill>
                  <a:srgbClr val="12263F"/>
                </a:solidFill>
                <a:latin typeface="Calibri" pitchFamily="34" charset="0"/>
                <a:ea typeface="Calibri" pitchFamily="34" charset="-122"/>
                <a:cs typeface="Calibri" pitchFamily="34" charset="-120"/>
              </a:rPr>
              <a:t>Each bar is a different team</a:t>
            </a:r>
            <a:endParaRPr lang="en-US" sz="1600" dirty="0"/>
          </a:p>
        </p:txBody>
      </p:sp>
      <p:sp>
        <p:nvSpPr>
          <p:cNvPr id="7" name="Text 4"/>
          <p:cNvSpPr txBox="1"/>
          <p:nvPr/>
        </p:nvSpPr>
        <p:spPr>
          <a:xfrm>
            <a:off x="7315200" y="2103120"/>
            <a:ext cx="4023360" cy="274320"/>
          </a:xfrm>
          <a:prstGeom prst="rect">
            <a:avLst/>
          </a:prstGeom>
          <a:noFill/>
          <a:ln/>
        </p:spPr>
        <p:txBody>
          <a:bodyPr wrap="square" lIns="0" tIns="0" rIns="0" bIns="0" rtlCol="0" anchor="ctr"/>
          <a:lstStyle/>
          <a:p>
            <a:pPr marL="0" indent="0">
              <a:buNone/>
            </a:pPr>
            <a:r>
              <a:rPr lang="en-US" sz="1400" b="1" dirty="0">
                <a:solidFill>
                  <a:srgbClr val="C1442E"/>
                </a:solidFill>
                <a:latin typeface="Calibri" pitchFamily="34" charset="0"/>
                <a:ea typeface="Calibri" pitchFamily="34" charset="-122"/>
                <a:cs typeface="Calibri" pitchFamily="34" charset="-120"/>
              </a:rPr>
              <a:t>₹1,61,172 · 60%</a:t>
            </a:r>
            <a:endParaRPr lang="en-US" sz="1400" dirty="0"/>
          </a:p>
        </p:txBody>
      </p:sp>
      <p:sp>
        <p:nvSpPr>
          <p:cNvPr id="8" name="Text 5"/>
          <p:cNvSpPr txBox="1"/>
          <p:nvPr/>
        </p:nvSpPr>
        <p:spPr>
          <a:xfrm>
            <a:off x="7315200" y="2377440"/>
            <a:ext cx="4023360" cy="566928"/>
          </a:xfrm>
          <a:prstGeom prst="rect">
            <a:avLst/>
          </a:prstGeom>
          <a:noFill/>
          <a:ln/>
        </p:spPr>
        <p:txBody>
          <a:bodyPr wrap="square" lIns="0" tIns="0" rIns="0" bIns="0" rtlCol="0" anchor="ctr"/>
          <a:lstStyle/>
          <a:p>
            <a:pPr marL="0" indent="0">
              <a:buNone/>
            </a:pPr>
            <a:r>
              <a:rPr lang="en-US" sz="1200" dirty="0">
                <a:solidFill>
                  <a:srgbClr val="33465C"/>
                </a:solidFill>
                <a:latin typeface="Calibri" pitchFamily="34" charset="0"/>
                <a:ea typeface="Calibri" pitchFamily="34" charset="-122"/>
                <a:cs typeface="Calibri" pitchFamily="34" charset="-120"/>
              </a:rPr>
              <a:t>Payment failure — gateway and risk rules. Diagnosed in Insight 4.</a:t>
            </a:r>
            <a:endParaRPr lang="en-US" sz="1200" dirty="0"/>
          </a:p>
        </p:txBody>
      </p:sp>
      <p:sp>
        <p:nvSpPr>
          <p:cNvPr id="9" name="Text 6"/>
          <p:cNvSpPr txBox="1"/>
          <p:nvPr/>
        </p:nvSpPr>
        <p:spPr>
          <a:xfrm>
            <a:off x="7315200" y="3035808"/>
            <a:ext cx="4023360" cy="274320"/>
          </a:xfrm>
          <a:prstGeom prst="rect">
            <a:avLst/>
          </a:prstGeom>
          <a:noFill/>
          <a:ln/>
        </p:spPr>
        <p:txBody>
          <a:bodyPr wrap="square" lIns="0" tIns="0" rIns="0" bIns="0" rtlCol="0" anchor="ctr"/>
          <a:lstStyle/>
          <a:p>
            <a:pPr marL="0" indent="0">
              <a:buNone/>
            </a:pPr>
            <a:r>
              <a:rPr lang="en-US" sz="1400" b="1" dirty="0">
                <a:solidFill>
                  <a:srgbClr val="C1442E"/>
                </a:solidFill>
                <a:latin typeface="Calibri" pitchFamily="34" charset="0"/>
                <a:ea typeface="Calibri" pitchFamily="34" charset="-122"/>
                <a:cs typeface="Calibri" pitchFamily="34" charset="-120"/>
              </a:rPr>
              <a:t>₹94,396 · 35%</a:t>
            </a:r>
            <a:endParaRPr lang="en-US" sz="1400" dirty="0"/>
          </a:p>
        </p:txBody>
      </p:sp>
      <p:sp>
        <p:nvSpPr>
          <p:cNvPr id="10" name="Text 7"/>
          <p:cNvSpPr txBox="1"/>
          <p:nvPr/>
        </p:nvSpPr>
        <p:spPr>
          <a:xfrm>
            <a:off x="7315200" y="3310128"/>
            <a:ext cx="4023360" cy="566928"/>
          </a:xfrm>
          <a:prstGeom prst="rect">
            <a:avLst/>
          </a:prstGeom>
          <a:noFill/>
          <a:ln/>
        </p:spPr>
        <p:txBody>
          <a:bodyPr wrap="square" lIns="0" tIns="0" rIns="0" bIns="0" rtlCol="0" anchor="ctr"/>
          <a:lstStyle/>
          <a:p>
            <a:pPr marL="0" indent="0">
              <a:buNone/>
            </a:pPr>
            <a:r>
              <a:rPr lang="en-US" sz="1200" dirty="0">
                <a:solidFill>
                  <a:srgbClr val="33465C"/>
                </a:solidFill>
                <a:latin typeface="Calibri" pitchFamily="34" charset="0"/>
                <a:ea typeface="Calibri" pitchFamily="34" charset="-122"/>
                <a:cs typeface="Calibri" pitchFamily="34" charset="-120"/>
              </a:rPr>
              <a:t>Returns — product quality and packaging, not a systems problem.</a:t>
            </a:r>
            <a:endParaRPr lang="en-US" sz="1200" dirty="0"/>
          </a:p>
        </p:txBody>
      </p:sp>
      <p:sp>
        <p:nvSpPr>
          <p:cNvPr id="11" name="Text 8"/>
          <p:cNvSpPr txBox="1"/>
          <p:nvPr/>
        </p:nvSpPr>
        <p:spPr>
          <a:xfrm>
            <a:off x="7315200" y="3968496"/>
            <a:ext cx="4023360" cy="274320"/>
          </a:xfrm>
          <a:prstGeom prst="rect">
            <a:avLst/>
          </a:prstGeom>
          <a:noFill/>
          <a:ln/>
        </p:spPr>
        <p:txBody>
          <a:bodyPr wrap="square" lIns="0" tIns="0" rIns="0" bIns="0" rtlCol="0" anchor="ctr"/>
          <a:lstStyle/>
          <a:p>
            <a:pPr marL="0" indent="0">
              <a:buNone/>
            </a:pPr>
            <a:r>
              <a:rPr lang="en-US" sz="1400" b="1" dirty="0">
                <a:solidFill>
                  <a:srgbClr val="C1442E"/>
                </a:solidFill>
                <a:latin typeface="Calibri" pitchFamily="34" charset="0"/>
                <a:ea typeface="Calibri" pitchFamily="34" charset="-122"/>
                <a:cs typeface="Calibri" pitchFamily="34" charset="-120"/>
              </a:rPr>
              <a:t>₹11,821 · 4%</a:t>
            </a:r>
            <a:endParaRPr lang="en-US" sz="1400" dirty="0"/>
          </a:p>
        </p:txBody>
      </p:sp>
      <p:sp>
        <p:nvSpPr>
          <p:cNvPr id="12" name="Text 9"/>
          <p:cNvSpPr txBox="1"/>
          <p:nvPr/>
        </p:nvSpPr>
        <p:spPr>
          <a:xfrm>
            <a:off x="7315200" y="4242816"/>
            <a:ext cx="4023360" cy="566928"/>
          </a:xfrm>
          <a:prstGeom prst="rect">
            <a:avLst/>
          </a:prstGeom>
          <a:noFill/>
          <a:ln/>
        </p:spPr>
        <p:txBody>
          <a:bodyPr wrap="square" lIns="0" tIns="0" rIns="0" bIns="0" rtlCol="0" anchor="ctr"/>
          <a:lstStyle/>
          <a:p>
            <a:pPr marL="0" indent="0">
              <a:buNone/>
            </a:pPr>
            <a:r>
              <a:rPr lang="en-US" sz="1200" dirty="0">
                <a:solidFill>
                  <a:srgbClr val="33465C"/>
                </a:solidFill>
                <a:latin typeface="Calibri" pitchFamily="34" charset="0"/>
                <a:ea typeface="Calibri" pitchFamily="34" charset="-122"/>
                <a:cs typeface="Calibri" pitchFamily="34" charset="-120"/>
              </a:rPr>
              <a:t>Stock-out — procurement. Traced to supplier fill rate in Insight 6.</a:t>
            </a:r>
            <a:endParaRPr lang="en-US" sz="1200" dirty="0"/>
          </a:p>
        </p:txBody>
      </p:sp>
      <p:sp>
        <p:nvSpPr>
          <p:cNvPr id="13" name="Shape 10"/>
          <p:cNvSpPr/>
          <p:nvPr/>
        </p:nvSpPr>
        <p:spPr>
          <a:xfrm>
            <a:off x="566928" y="580644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14" name="Text 11"/>
          <p:cNvSpPr txBox="1"/>
          <p:nvPr/>
        </p:nvSpPr>
        <p:spPr>
          <a:xfrm>
            <a:off x="795528" y="591616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A single-system dashboard reports one aggregate cancellation rate. Joining the four systems splits ₹2.67 L three ways and sends each share to the team that can actually fix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Insight 2 — One Category Carries the Entire Business Risk</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Charts 3.3, 2.5 and 5.3 read together · Electronics against everything else</a:t>
            </a:r>
            <a:endParaRPr lang="en-US" sz="1400" dirty="0"/>
          </a:p>
        </p:txBody>
      </p:sp>
      <p:graphicFrame>
        <p:nvGraphicFramePr>
          <p:cNvPr id="4" name="Chart 0"/>
          <p:cNvGraphicFramePr/>
          <p:nvPr/>
        </p:nvGraphicFramePr>
        <p:xfrm>
          <a:off x="566928" y="146304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463040"/>
            <a:ext cx="4160520" cy="3566160"/>
          </a:xfrm>
          <a:prstGeom prst="roundRect">
            <a:avLst>
              <a:gd name="adj" fmla="val 2051"/>
            </a:avLst>
          </a:prstGeom>
          <a:solidFill>
            <a:srgbClr val="F4F6F8"/>
          </a:solidFill>
          <a:ln w="12700">
            <a:solidFill>
              <a:srgbClr val="F4F6F8"/>
            </a:solidFill>
            <a:prstDash val="solid"/>
          </a:ln>
        </p:spPr>
        <p:txBody>
          <a:bodyPr/>
          <a:lstStyle/>
          <a:p>
            <a:endParaRPr lang="en-IN"/>
          </a:p>
        </p:txBody>
      </p:sp>
      <p:sp>
        <p:nvSpPr>
          <p:cNvPr id="6" name="Text 3"/>
          <p:cNvSpPr txBox="1"/>
          <p:nvPr/>
        </p:nvSpPr>
        <p:spPr>
          <a:xfrm>
            <a:off x="7680960" y="1691640"/>
            <a:ext cx="3749040" cy="1005840"/>
          </a:xfrm>
          <a:prstGeom prst="rect">
            <a:avLst/>
          </a:prstGeom>
          <a:noFill/>
          <a:ln/>
        </p:spPr>
        <p:txBody>
          <a:bodyPr wrap="square" lIns="0" tIns="0" rIns="0" bIns="0" rtlCol="0" anchor="ctr"/>
          <a:lstStyle/>
          <a:p>
            <a:pPr marL="0" indent="0">
              <a:lnSpc>
                <a:spcPts val="2800"/>
              </a:lnSpc>
              <a:buNone/>
            </a:pPr>
            <a:r>
              <a:rPr lang="en-US" sz="2200" b="1" dirty="0">
                <a:solidFill>
                  <a:srgbClr val="12263F"/>
                </a:solidFill>
                <a:latin typeface="Cambria" pitchFamily="34" charset="0"/>
                <a:ea typeface="Cambria" pitchFamily="34" charset="-122"/>
                <a:cs typeface="Cambria" pitchFamily="34" charset="-120"/>
              </a:rPr>
              <a:t>42% of orders.</a:t>
            </a:r>
            <a:endParaRPr lang="en-US" sz="2200" dirty="0"/>
          </a:p>
          <a:p>
            <a:pPr marL="0" indent="0">
              <a:lnSpc>
                <a:spcPts val="2800"/>
              </a:lnSpc>
              <a:buNone/>
            </a:pPr>
            <a:r>
              <a:rPr lang="en-US" sz="2200" b="1" dirty="0">
                <a:solidFill>
                  <a:srgbClr val="12263F"/>
                </a:solidFill>
                <a:latin typeface="Cambria" pitchFamily="34" charset="0"/>
                <a:ea typeface="Cambria" pitchFamily="34" charset="-122"/>
                <a:cs typeface="Cambria" pitchFamily="34" charset="-120"/>
              </a:rPr>
              <a:t>81% of revenue.</a:t>
            </a:r>
            <a:endParaRPr lang="en-US" sz="2200" dirty="0"/>
          </a:p>
          <a:p>
            <a:pPr marL="0" indent="0">
              <a:lnSpc>
                <a:spcPts val="2800"/>
              </a:lnSpc>
              <a:buNone/>
            </a:pPr>
            <a:r>
              <a:rPr lang="en-US" sz="2200" b="1" dirty="0">
                <a:solidFill>
                  <a:srgbClr val="12263F"/>
                </a:solidFill>
                <a:latin typeface="Cambria" pitchFamily="34" charset="0"/>
                <a:ea typeface="Cambria" pitchFamily="34" charset="-122"/>
                <a:cs typeface="Cambria" pitchFamily="34" charset="-120"/>
              </a:rPr>
              <a:t>77% of the losses.</a:t>
            </a:r>
            <a:endParaRPr lang="en-US" sz="2200" dirty="0"/>
          </a:p>
        </p:txBody>
      </p:sp>
      <p:sp>
        <p:nvSpPr>
          <p:cNvPr id="7" name="Text 4"/>
          <p:cNvSpPr txBox="1"/>
          <p:nvPr/>
        </p:nvSpPr>
        <p:spPr>
          <a:xfrm>
            <a:off x="7680960" y="2788920"/>
            <a:ext cx="3749040" cy="2011680"/>
          </a:xfrm>
          <a:prstGeom prst="rect">
            <a:avLst/>
          </a:prstGeom>
          <a:noFill/>
          <a:ln/>
        </p:spPr>
        <p:txBody>
          <a:bodyPr wrap="square" lIns="0" tIns="0" rIns="0" bIns="0" rtlCol="0" anchor="ctr"/>
          <a:lstStyle/>
          <a:p>
            <a:pPr marL="0" indent="0">
              <a:buNone/>
            </a:pPr>
            <a:r>
              <a:rPr lang="en-US" sz="1300" dirty="0">
                <a:solidFill>
                  <a:srgbClr val="33465C"/>
                </a:solidFill>
                <a:latin typeface="Calibri" pitchFamily="34" charset="0"/>
                <a:ea typeface="Calibri" pitchFamily="34" charset="-122"/>
                <a:cs typeface="Calibri" pitchFamily="34" charset="-120"/>
              </a:rPr>
              <a:t>Electronics also holds ₹62.5 L of the ₹92.4 L tied up in stock, and ₹5.73 L of the ₹7.92 L sitting in abandoned carts.</a:t>
            </a:r>
            <a:endParaRPr lang="en-US" sz="1300" dirty="0"/>
          </a:p>
          <a:p>
            <a:pPr marL="0" indent="0">
              <a:buNone/>
            </a:pPr>
            <a:endParaRPr lang="en-US" sz="1300" dirty="0"/>
          </a:p>
          <a:p>
            <a:pPr marL="0" indent="0">
              <a:buNone/>
            </a:pPr>
            <a:r>
              <a:rPr lang="en-US" sz="1300" dirty="0">
                <a:solidFill>
                  <a:srgbClr val="33465C"/>
                </a:solidFill>
                <a:latin typeface="Calibri" pitchFamily="34" charset="0"/>
                <a:ea typeface="Calibri" pitchFamily="34" charset="-122"/>
                <a:cs typeface="Calibri" pitchFamily="34" charset="-120"/>
              </a:rPr>
              <a:t>Every lever in this business — revenue, leakage, working capital, recoverable demand — moves with one category.</a:t>
            </a:r>
            <a:endParaRPr lang="en-US" sz="1300" dirty="0"/>
          </a:p>
        </p:txBody>
      </p:sp>
      <p:sp>
        <p:nvSpPr>
          <p:cNvPr id="8" name="Shape 5"/>
          <p:cNvSpPr/>
          <p:nvPr/>
        </p:nvSpPr>
        <p:spPr>
          <a:xfrm>
            <a:off x="566928" y="580644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9" name="Text 6"/>
          <p:cNvSpPr txBox="1"/>
          <p:nvPr/>
        </p:nvSpPr>
        <p:spPr>
          <a:xfrm>
            <a:off x="795528" y="591616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Protecting Electronics availability and conversion is worth more than any platform-wide initiative. A 5% improvement here outweighs fixing every other category completely.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Insight 3 — The Largest Pool Is Recoverable Demand</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Charts 2.4 and 2.5 · abandoned cart value by category</a:t>
            </a:r>
            <a:endParaRPr lang="en-US" sz="1400" dirty="0"/>
          </a:p>
        </p:txBody>
      </p:sp>
      <p:graphicFrame>
        <p:nvGraphicFramePr>
          <p:cNvPr id="4" name="Chart 0"/>
          <p:cNvGraphicFramePr/>
          <p:nvPr/>
        </p:nvGraphicFramePr>
        <p:xfrm>
          <a:off x="566928" y="146304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463040"/>
            <a:ext cx="4160520" cy="1600200"/>
          </a:xfrm>
          <a:prstGeom prst="roundRect">
            <a:avLst>
              <a:gd name="adj" fmla="val 4571"/>
            </a:avLst>
          </a:prstGeom>
          <a:solidFill>
            <a:srgbClr val="12263F"/>
          </a:solidFill>
          <a:ln w="12700">
            <a:solidFill>
              <a:srgbClr val="12263F"/>
            </a:solidFill>
            <a:prstDash val="solid"/>
          </a:ln>
        </p:spPr>
        <p:txBody>
          <a:bodyPr/>
          <a:lstStyle/>
          <a:p>
            <a:endParaRPr lang="en-IN"/>
          </a:p>
        </p:txBody>
      </p:sp>
      <p:sp>
        <p:nvSpPr>
          <p:cNvPr id="6" name="Text 3"/>
          <p:cNvSpPr txBox="1"/>
          <p:nvPr/>
        </p:nvSpPr>
        <p:spPr>
          <a:xfrm>
            <a:off x="7635240" y="1627632"/>
            <a:ext cx="3794760" cy="594360"/>
          </a:xfrm>
          <a:prstGeom prst="rect">
            <a:avLst/>
          </a:prstGeom>
          <a:noFill/>
          <a:ln/>
        </p:spPr>
        <p:txBody>
          <a:bodyPr wrap="square" lIns="0" tIns="0" rIns="0" bIns="0" rtlCol="0" anchor="ctr"/>
          <a:lstStyle/>
          <a:p>
            <a:pPr marL="0" indent="0">
              <a:buNone/>
            </a:pPr>
            <a:r>
              <a:rPr lang="en-US" sz="3400" b="1" dirty="0">
                <a:solidFill>
                  <a:srgbClr val="E9A13B"/>
                </a:solidFill>
                <a:latin typeface="Cambria" pitchFamily="34" charset="0"/>
                <a:ea typeface="Cambria" pitchFamily="34" charset="-122"/>
                <a:cs typeface="Cambria" pitchFamily="34" charset="-120"/>
              </a:rPr>
              <a:t>₹7.92 L</a:t>
            </a:r>
            <a:endParaRPr lang="en-US" sz="3400" dirty="0"/>
          </a:p>
        </p:txBody>
      </p:sp>
      <p:sp>
        <p:nvSpPr>
          <p:cNvPr id="7" name="Text 4"/>
          <p:cNvSpPr txBox="1"/>
          <p:nvPr/>
        </p:nvSpPr>
        <p:spPr>
          <a:xfrm>
            <a:off x="7635240" y="2212848"/>
            <a:ext cx="3794760" cy="7315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abandoned, against ₹21.3 L retained — 37% of everything the platform actually kept.</a:t>
            </a:r>
            <a:endParaRPr lang="en-US" sz="1300" dirty="0"/>
          </a:p>
        </p:txBody>
      </p:sp>
      <p:sp>
        <p:nvSpPr>
          <p:cNvPr id="8" name="Text 5"/>
          <p:cNvSpPr txBox="1"/>
          <p:nvPr/>
        </p:nvSpPr>
        <p:spPr>
          <a:xfrm>
            <a:off x="7635240" y="3246120"/>
            <a:ext cx="3931920" cy="32004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Detected by the absence of an event</a:t>
            </a:r>
            <a:endParaRPr lang="en-US" sz="1500" dirty="0"/>
          </a:p>
        </p:txBody>
      </p:sp>
      <p:sp>
        <p:nvSpPr>
          <p:cNvPr id="9" name="Text 6"/>
          <p:cNvSpPr txBox="1"/>
          <p:nvPr/>
        </p:nvSpPr>
        <p:spPr>
          <a:xfrm>
            <a:off x="7635240" y="3584448"/>
            <a:ext cx="3931920" cy="192024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No purchase ever happens, so there is no record for a batch job to join on — only a gap. A watcher in the clickstream consumer ages idle carts out and raises the alert while the shopper is still in the market.</a:t>
            </a:r>
            <a:endParaRPr lang="en-US" sz="1250" dirty="0"/>
          </a:p>
          <a:p>
            <a:pPr marL="0" indent="0">
              <a:buNone/>
            </a:pPr>
            <a:endParaRPr lang="en-US" sz="1250" dirty="0"/>
          </a:p>
          <a:p>
            <a:pPr marL="0" indent="0">
              <a:buNone/>
            </a:pPr>
            <a:r>
              <a:rPr lang="en-US" sz="1250" dirty="0">
                <a:solidFill>
                  <a:srgbClr val="33465C"/>
                </a:solidFill>
                <a:latin typeface="Calibri" pitchFamily="34" charset="0"/>
                <a:ea typeface="Calibri" pitchFamily="34" charset="-122"/>
                <a:cs typeface="Calibri" pitchFamily="34" charset="-120"/>
              </a:rPr>
              <a:t>95 of the 231 open alerts are abandoned carts: the single largest, and cheapest, recovery queue in the business.</a:t>
            </a:r>
            <a:endParaRPr lang="en-US" sz="1250" dirty="0"/>
          </a:p>
        </p:txBody>
      </p:sp>
      <p:sp>
        <p:nvSpPr>
          <p:cNvPr id="10" name="Shape 7"/>
          <p:cNvSpPr/>
          <p:nvPr/>
        </p:nvSpPr>
        <p:spPr>
          <a:xfrm>
            <a:off x="566928" y="580644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11" name="Text 8"/>
          <p:cNvSpPr txBox="1"/>
          <p:nvPr/>
        </p:nvSpPr>
        <p:spPr>
          <a:xfrm>
            <a:off x="795528" y="591616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Retargeting the Electronics abandonment pool alone addresses ₹5.73 L — more than twice the total revenue the platform actually lost.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Insight 4 — Same Failure Rate, Two Opposite Responses</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Charts 4.2 and 4.3 · the diagnosis a single headline number cannot give you</a:t>
            </a:r>
            <a:endParaRPr lang="en-US" sz="1400" dirty="0"/>
          </a:p>
        </p:txBody>
      </p:sp>
      <p:sp>
        <p:nvSpPr>
          <p:cNvPr id="4" name="Text 2"/>
          <p:cNvSpPr txBox="1"/>
          <p:nvPr/>
        </p:nvSpPr>
        <p:spPr>
          <a:xfrm>
            <a:off x="566928" y="1417320"/>
            <a:ext cx="5120640" cy="27432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Failure rate by gateway</a:t>
            </a:r>
            <a:endParaRPr lang="en-US" sz="1400" dirty="0"/>
          </a:p>
        </p:txBody>
      </p:sp>
      <p:graphicFrame>
        <p:nvGraphicFramePr>
          <p:cNvPr id="5" name="Chart 0"/>
          <p:cNvGraphicFramePr/>
          <p:nvPr/>
        </p:nvGraphicFramePr>
        <p:xfrm>
          <a:off x="566928" y="1737360"/>
          <a:ext cx="5303520"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66928" y="3749040"/>
            <a:ext cx="5303520" cy="274320"/>
          </a:xfrm>
          <a:prstGeom prst="rect">
            <a:avLst/>
          </a:prstGeom>
          <a:noFill/>
          <a:ln/>
        </p:spPr>
        <p:txBody>
          <a:bodyPr wrap="square" lIns="0" tIns="0" rIns="0" bIns="0" rtlCol="0" anchor="ctr"/>
          <a:lstStyle/>
          <a:p>
            <a:pPr marL="0" indent="0">
              <a:buNone/>
            </a:pPr>
            <a:r>
              <a:rPr lang="en-US" sz="1400" b="1" dirty="0">
                <a:solidFill>
                  <a:srgbClr val="12263F"/>
                </a:solidFill>
                <a:latin typeface="Calibri" pitchFamily="34" charset="0"/>
                <a:ea typeface="Calibri" pitchFamily="34" charset="-122"/>
                <a:cs typeface="Calibri" pitchFamily="34" charset="-120"/>
              </a:rPr>
              <a:t>Why payments fail — 102 failed attempts</a:t>
            </a:r>
            <a:endParaRPr lang="en-US" sz="1400" dirty="0"/>
          </a:p>
        </p:txBody>
      </p:sp>
      <p:graphicFrame>
        <p:nvGraphicFramePr>
          <p:cNvPr id="7" name="Chart 1"/>
          <p:cNvGraphicFramePr/>
          <p:nvPr/>
        </p:nvGraphicFramePr>
        <p:xfrm>
          <a:off x="566928" y="4023360"/>
          <a:ext cx="5303520" cy="169164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6355080" y="1417320"/>
            <a:ext cx="5257800" cy="4297680"/>
          </a:xfrm>
          <a:prstGeom prst="roundRect">
            <a:avLst>
              <a:gd name="adj" fmla="val 1702"/>
            </a:avLst>
          </a:prstGeom>
          <a:solidFill>
            <a:srgbClr val="F4F6F8"/>
          </a:solidFill>
          <a:ln w="12700">
            <a:solidFill>
              <a:srgbClr val="F4F6F8"/>
            </a:solidFill>
            <a:prstDash val="solid"/>
          </a:ln>
        </p:spPr>
        <p:txBody>
          <a:bodyPr/>
          <a:lstStyle/>
          <a:p>
            <a:endParaRPr lang="en-IN"/>
          </a:p>
        </p:txBody>
      </p:sp>
      <p:sp>
        <p:nvSpPr>
          <p:cNvPr id="9" name="Text 5"/>
          <p:cNvSpPr txBox="1"/>
          <p:nvPr/>
        </p:nvSpPr>
        <p:spPr>
          <a:xfrm>
            <a:off x="6583680" y="1627632"/>
            <a:ext cx="4846320" cy="320040"/>
          </a:xfrm>
          <a:prstGeom prst="rect">
            <a:avLst/>
          </a:prstGeom>
          <a:noFill/>
          <a:ln/>
        </p:spPr>
        <p:txBody>
          <a:bodyPr wrap="square" lIns="0" tIns="0" rIns="0" bIns="0" rtlCol="0" anchor="ctr"/>
          <a:lstStyle/>
          <a:p>
            <a:pPr marL="0" indent="0">
              <a:buNone/>
            </a:pPr>
            <a:r>
              <a:rPr lang="en-US" sz="1700" b="1" dirty="0">
                <a:solidFill>
                  <a:srgbClr val="12263F"/>
                </a:solidFill>
                <a:latin typeface="Calibri" pitchFamily="34" charset="0"/>
                <a:ea typeface="Calibri" pitchFamily="34" charset="-122"/>
                <a:cs typeface="Calibri" pitchFamily="34" charset="-120"/>
              </a:rPr>
              <a:t>The spread is 2.2 points</a:t>
            </a:r>
            <a:endParaRPr lang="en-US" sz="1700" dirty="0"/>
          </a:p>
        </p:txBody>
      </p:sp>
      <p:sp>
        <p:nvSpPr>
          <p:cNvPr id="10" name="Text 6"/>
          <p:cNvSpPr txBox="1"/>
          <p:nvPr/>
        </p:nvSpPr>
        <p:spPr>
          <a:xfrm>
            <a:off x="6583680" y="1993392"/>
            <a:ext cx="4846320" cy="868680"/>
          </a:xfrm>
          <a:prstGeom prst="rect">
            <a:avLst/>
          </a:prstGeom>
          <a:noFill/>
          <a:ln/>
        </p:spPr>
        <p:txBody>
          <a:bodyPr wrap="square" lIns="0" tIns="0" rIns="0" bIns="0" rtlCol="0" anchor="ctr"/>
          <a:lstStyle/>
          <a:p>
            <a:pPr marL="0" indent="0">
              <a:buNone/>
            </a:pPr>
            <a:r>
              <a:rPr lang="en-US" sz="1300" dirty="0">
                <a:solidFill>
                  <a:srgbClr val="33465C"/>
                </a:solidFill>
                <a:latin typeface="Calibri" pitchFamily="34" charset="0"/>
                <a:ea typeface="Calibri" pitchFamily="34" charset="-122"/>
                <a:cs typeface="Calibri" pitchFamily="34" charset="-120"/>
              </a:rPr>
              <a:t>If one gateway were failing, its bar would stand alone and the fix would be to reroute traffic. All three sit at 31–33%, so the cause is not provider-specific.</a:t>
            </a:r>
            <a:endParaRPr lang="en-US" sz="1300" dirty="0"/>
          </a:p>
        </p:txBody>
      </p:sp>
      <p:sp>
        <p:nvSpPr>
          <p:cNvPr id="11" name="Text 7"/>
          <p:cNvSpPr txBox="1"/>
          <p:nvPr/>
        </p:nvSpPr>
        <p:spPr>
          <a:xfrm>
            <a:off x="6583680" y="2880360"/>
            <a:ext cx="4846320" cy="27432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The reasons confirm it</a:t>
            </a:r>
            <a:endParaRPr lang="en-US" sz="1500" dirty="0"/>
          </a:p>
        </p:txBody>
      </p:sp>
      <p:sp>
        <p:nvSpPr>
          <p:cNvPr id="12" name="Text 8"/>
          <p:cNvSpPr txBox="1"/>
          <p:nvPr/>
        </p:nvSpPr>
        <p:spPr>
          <a:xfrm>
            <a:off x="6583680" y="3200400"/>
            <a:ext cx="4846320" cy="914400"/>
          </a:xfrm>
          <a:prstGeom prst="rect">
            <a:avLst/>
          </a:prstGeom>
          <a:noFill/>
          <a:ln/>
        </p:spPr>
        <p:txBody>
          <a:bodyPr wrap="square" lIns="0" tIns="0" rIns="0" bIns="0" rtlCol="0" anchor="ctr"/>
          <a:lstStyle/>
          <a:p>
            <a:pPr marL="0" indent="0">
              <a:buNone/>
            </a:pPr>
            <a:r>
              <a:rPr lang="en-US" sz="1300" dirty="0">
                <a:solidFill>
                  <a:srgbClr val="33465C"/>
                </a:solidFill>
                <a:latin typeface="Calibri" pitchFamily="34" charset="0"/>
                <a:ea typeface="Calibri" pitchFamily="34" charset="-122"/>
                <a:cs typeface="Calibri" pitchFamily="34" charset="-120"/>
              </a:rPr>
              <a:t>54% of failures are customer-side — bank declines, invalid CVV, insufficient funds. Only 46% are infrastructure. Blocking customers or switching provider would both be the wrong move.</a:t>
            </a:r>
            <a:endParaRPr lang="en-US" sz="1300" dirty="0"/>
          </a:p>
        </p:txBody>
      </p:sp>
      <p:sp>
        <p:nvSpPr>
          <p:cNvPr id="13" name="Text 9"/>
          <p:cNvSpPr txBox="1"/>
          <p:nvPr/>
        </p:nvSpPr>
        <p:spPr>
          <a:xfrm>
            <a:off x="6583680" y="4160520"/>
            <a:ext cx="4846320" cy="914400"/>
          </a:xfrm>
          <a:prstGeom prst="rect">
            <a:avLst/>
          </a:prstGeom>
          <a:noFill/>
          <a:ln/>
        </p:spPr>
        <p:txBody>
          <a:bodyPr wrap="square" lIns="0" tIns="0" rIns="0" bIns="0" rtlCol="0" anchor="ctr"/>
          <a:lstStyle/>
          <a:p>
            <a:pPr marL="0" indent="0">
              <a:buNone/>
            </a:pPr>
            <a:r>
              <a:rPr lang="en-US" sz="1300" b="1" dirty="0">
                <a:solidFill>
                  <a:srgbClr val="12263F"/>
                </a:solidFill>
                <a:latin typeface="Calibri" pitchFamily="34" charset="0"/>
                <a:ea typeface="Calibri" pitchFamily="34" charset="-122"/>
                <a:cs typeface="Calibri" pitchFamily="34" charset="-120"/>
              </a:rPr>
              <a:t>Act on: retry orchestration, alternate-method prompts at the point of failure, and holding only the orders the fraud rules flag.</a:t>
            </a:r>
            <a:endParaRPr lang="en-US" sz="1300" dirty="0"/>
          </a:p>
        </p:txBody>
      </p:sp>
      <p:sp>
        <p:nvSpPr>
          <p:cNvPr id="14" name="Shape 10"/>
          <p:cNvSpPr/>
          <p:nvPr/>
        </p:nvSpPr>
        <p:spPr>
          <a:xfrm>
            <a:off x="566928" y="580644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15" name="Text 11"/>
          <p:cNvSpPr txBox="1"/>
          <p:nvPr/>
        </p:nvSpPr>
        <p:spPr>
          <a:xfrm>
            <a:off x="795528" y="591616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Payment failure is 60% of all lost revenue — ₹1.61 L. The live per-gateway split is what separates a routing fix from a checkout-experience fix.</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Insight 5 — Fraud Detection Measured, Not Asserted</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Chart 4.4 · the producer labels synthetic fraud; the consumer's rules never read that label</a:t>
            </a:r>
            <a:endParaRPr lang="en-US" sz="1400" dirty="0"/>
          </a:p>
        </p:txBody>
      </p:sp>
      <p:graphicFrame>
        <p:nvGraphicFramePr>
          <p:cNvPr id="4" name="Chart 0"/>
          <p:cNvGraphicFramePr/>
          <p:nvPr/>
        </p:nvGraphicFramePr>
        <p:xfrm>
          <a:off x="566928" y="146304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463040"/>
            <a:ext cx="2011680"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6" name="Text 3"/>
          <p:cNvSpPr txBox="1"/>
          <p:nvPr/>
        </p:nvSpPr>
        <p:spPr>
          <a:xfrm>
            <a:off x="7589520" y="1572768"/>
            <a:ext cx="1737360" cy="658368"/>
          </a:xfrm>
          <a:prstGeom prst="rect">
            <a:avLst/>
          </a:prstGeom>
          <a:noFill/>
          <a:ln/>
        </p:spPr>
        <p:txBody>
          <a:bodyPr wrap="square" lIns="0" tIns="0" rIns="0" bIns="0" rtlCol="0" anchor="ctr"/>
          <a:lstStyle/>
          <a:p>
            <a:pPr marL="0" indent="0" algn="ctr">
              <a:buNone/>
            </a:pPr>
            <a:r>
              <a:rPr lang="en-US" sz="3200" b="1" dirty="0">
                <a:solidFill>
                  <a:srgbClr val="2E7D52"/>
                </a:solidFill>
                <a:latin typeface="Cambria" pitchFamily="34" charset="0"/>
                <a:ea typeface="Cambria" pitchFamily="34" charset="-122"/>
                <a:cs typeface="Cambria" pitchFamily="34" charset="-120"/>
              </a:rPr>
              <a:t>100%</a:t>
            </a:r>
            <a:endParaRPr lang="en-US" sz="3200" dirty="0"/>
          </a:p>
        </p:txBody>
      </p:sp>
      <p:sp>
        <p:nvSpPr>
          <p:cNvPr id="7" name="Text 4"/>
          <p:cNvSpPr txBox="1"/>
          <p:nvPr/>
        </p:nvSpPr>
        <p:spPr>
          <a:xfrm>
            <a:off x="7562088" y="2249424"/>
            <a:ext cx="1792224"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RECALL</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all 13 fraud orders caught</a:t>
            </a:r>
            <a:endParaRPr lang="en-US" sz="1100" dirty="0"/>
          </a:p>
        </p:txBody>
      </p:sp>
      <p:sp>
        <p:nvSpPr>
          <p:cNvPr id="8" name="Shape 5"/>
          <p:cNvSpPr/>
          <p:nvPr/>
        </p:nvSpPr>
        <p:spPr>
          <a:xfrm>
            <a:off x="9601200" y="1463040"/>
            <a:ext cx="2011680" cy="1325880"/>
          </a:xfrm>
          <a:prstGeom prst="roundRect">
            <a:avLst>
              <a:gd name="adj" fmla="val 5517"/>
            </a:avLst>
          </a:prstGeom>
          <a:solidFill>
            <a:srgbClr val="F4F6F8"/>
          </a:solidFill>
          <a:ln w="12700">
            <a:solidFill>
              <a:srgbClr val="F4F6F8"/>
            </a:solidFill>
            <a:prstDash val="solid"/>
          </a:ln>
        </p:spPr>
        <p:txBody>
          <a:bodyPr/>
          <a:lstStyle/>
          <a:p>
            <a:endParaRPr lang="en-IN"/>
          </a:p>
        </p:txBody>
      </p:sp>
      <p:sp>
        <p:nvSpPr>
          <p:cNvPr id="9" name="Text 6"/>
          <p:cNvSpPr txBox="1"/>
          <p:nvPr/>
        </p:nvSpPr>
        <p:spPr>
          <a:xfrm>
            <a:off x="9738360" y="1572768"/>
            <a:ext cx="1737360" cy="658368"/>
          </a:xfrm>
          <a:prstGeom prst="rect">
            <a:avLst/>
          </a:prstGeom>
          <a:noFill/>
          <a:ln/>
        </p:spPr>
        <p:txBody>
          <a:bodyPr wrap="square" lIns="0" tIns="0" rIns="0" bIns="0" rtlCol="0" anchor="ctr"/>
          <a:lstStyle/>
          <a:p>
            <a:pPr marL="0" indent="0" algn="ctr">
              <a:buNone/>
            </a:pPr>
            <a:r>
              <a:rPr lang="en-US" sz="3200" b="1" dirty="0">
                <a:solidFill>
                  <a:srgbClr val="12263F"/>
                </a:solidFill>
                <a:latin typeface="Cambria" pitchFamily="34" charset="0"/>
                <a:ea typeface="Cambria" pitchFamily="34" charset="-122"/>
                <a:cs typeface="Cambria" pitchFamily="34" charset="-120"/>
              </a:rPr>
              <a:t>0.4%</a:t>
            </a:r>
            <a:endParaRPr lang="en-US" sz="3200" dirty="0"/>
          </a:p>
        </p:txBody>
      </p:sp>
      <p:sp>
        <p:nvSpPr>
          <p:cNvPr id="10" name="Text 7"/>
          <p:cNvSpPr txBox="1"/>
          <p:nvPr/>
        </p:nvSpPr>
        <p:spPr>
          <a:xfrm>
            <a:off x="9710928" y="2249424"/>
            <a:ext cx="1792224" cy="438912"/>
          </a:xfrm>
          <a:prstGeom prst="rect">
            <a:avLst/>
          </a:prstGeom>
          <a:noFill/>
          <a:ln/>
        </p:spPr>
        <p:txBody>
          <a:bodyPr wrap="square" lIns="0" tIns="0" rIns="0" bIns="0" rtlCol="0" anchor="ctr"/>
          <a:lstStyle/>
          <a:p>
            <a:pPr marL="0" indent="0" algn="ctr">
              <a:buNone/>
            </a:pPr>
            <a:r>
              <a:rPr lang="en-US" sz="1100" dirty="0">
                <a:solidFill>
                  <a:srgbClr val="6B7A8C"/>
                </a:solidFill>
                <a:latin typeface="Calibri" pitchFamily="34" charset="0"/>
                <a:ea typeface="Calibri" pitchFamily="34" charset="-122"/>
                <a:cs typeface="Calibri" pitchFamily="34" charset="-120"/>
              </a:rPr>
              <a:t>FALSE POSITIVES</a:t>
            </a:r>
            <a:endParaRPr lang="en-US" sz="1100" dirty="0"/>
          </a:p>
          <a:p>
            <a:pPr marL="0" indent="0" algn="ctr">
              <a:buNone/>
            </a:pPr>
            <a:r>
              <a:rPr lang="en-US" sz="1100" dirty="0">
                <a:solidFill>
                  <a:srgbClr val="6B7A8C"/>
                </a:solidFill>
                <a:latin typeface="Calibri" pitchFamily="34" charset="0"/>
                <a:ea typeface="Calibri" pitchFamily="34" charset="-122"/>
                <a:cs typeface="Calibri" pitchFamily="34" charset="-120"/>
              </a:rPr>
              <a:t>1 of 232 clean orders</a:t>
            </a:r>
            <a:endParaRPr lang="en-US" sz="1100" dirty="0"/>
          </a:p>
        </p:txBody>
      </p:sp>
      <p:sp>
        <p:nvSpPr>
          <p:cNvPr id="11" name="Shape 8"/>
          <p:cNvSpPr/>
          <p:nvPr/>
        </p:nvSpPr>
        <p:spPr>
          <a:xfrm>
            <a:off x="7452360" y="2971800"/>
            <a:ext cx="4160520" cy="2057400"/>
          </a:xfrm>
          <a:prstGeom prst="roundRect">
            <a:avLst>
              <a:gd name="adj" fmla="val 3556"/>
            </a:avLst>
          </a:prstGeom>
          <a:solidFill>
            <a:srgbClr val="F4F6F8"/>
          </a:solidFill>
          <a:ln w="12700">
            <a:solidFill>
              <a:srgbClr val="F4F6F8"/>
            </a:solidFill>
            <a:prstDash val="solid"/>
          </a:ln>
        </p:spPr>
        <p:txBody>
          <a:bodyPr/>
          <a:lstStyle/>
          <a:p>
            <a:endParaRPr lang="en-IN"/>
          </a:p>
        </p:txBody>
      </p:sp>
      <p:sp>
        <p:nvSpPr>
          <p:cNvPr id="12" name="Text 9"/>
          <p:cNvSpPr txBox="1"/>
          <p:nvPr/>
        </p:nvSpPr>
        <p:spPr>
          <a:xfrm>
            <a:off x="7680960" y="3154680"/>
            <a:ext cx="3749040" cy="27432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Why the separation matters</a:t>
            </a:r>
            <a:endParaRPr lang="en-US" sz="1500" dirty="0"/>
          </a:p>
        </p:txBody>
      </p:sp>
      <p:sp>
        <p:nvSpPr>
          <p:cNvPr id="13" name="Text 10"/>
          <p:cNvSpPr txBox="1"/>
          <p:nvPr/>
        </p:nvSpPr>
        <p:spPr>
          <a:xfrm>
            <a:off x="7680960" y="3474720"/>
            <a:ext cx="3749040" cy="146304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A rule set can catch every high-value case, miss every card-testing case, and still report an impressive alert count. Measuring recall per fraud type is the only way to know which patterns you are blind to.</a:t>
            </a:r>
            <a:endParaRPr lang="en-US" sz="1250" dirty="0"/>
          </a:p>
          <a:p>
            <a:pPr marL="0" indent="0">
              <a:buNone/>
            </a:pPr>
            <a:endParaRPr lang="en-US" sz="1250" dirty="0"/>
          </a:p>
          <a:p>
            <a:pPr marL="0" indent="0">
              <a:buNone/>
            </a:pPr>
            <a:r>
              <a:rPr lang="en-US" sz="1250" dirty="0">
                <a:solidFill>
                  <a:srgbClr val="33465C"/>
                </a:solidFill>
                <a:latin typeface="Calibri" pitchFamily="34" charset="0"/>
                <a:ea typeface="Calibri" pitchFamily="34" charset="-122"/>
                <a:cs typeface="Calibri" pitchFamily="34" charset="-120"/>
              </a:rPr>
              <a:t>Four rules run in-stream: high value, repeated failure, card testing, method cycling.</a:t>
            </a:r>
            <a:endParaRPr lang="en-US" sz="1250" dirty="0"/>
          </a:p>
        </p:txBody>
      </p:sp>
      <p:sp>
        <p:nvSpPr>
          <p:cNvPr id="14" name="Shape 11"/>
          <p:cNvSpPr/>
          <p:nvPr/>
        </p:nvSpPr>
        <p:spPr>
          <a:xfrm>
            <a:off x="566928" y="580644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15" name="Text 12"/>
          <p:cNvSpPr txBox="1"/>
          <p:nvPr/>
        </p:nvSpPr>
        <p:spPr>
          <a:xfrm>
            <a:off x="795528" y="591616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Fraud orders are held before settlement rather than written off as chargebacks afterwards — and we can prove the rules work rather than claiming 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Insight 6 — A Procurement Failure, Not a Forecasting One</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Charts 5.4 and 5.2 read together · supplier fill rate against stock-out exposure</a:t>
            </a:r>
            <a:endParaRPr lang="en-US" sz="1400" dirty="0"/>
          </a:p>
        </p:txBody>
      </p:sp>
      <p:graphicFrame>
        <p:nvGraphicFramePr>
          <p:cNvPr id="4" name="Chart 0"/>
          <p:cNvGraphicFramePr/>
          <p:nvPr/>
        </p:nvGraphicFramePr>
        <p:xfrm>
          <a:off x="566928" y="1554480"/>
          <a:ext cx="585216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6928" y="3666744"/>
            <a:ext cx="182880" cy="182880"/>
          </a:xfrm>
          <a:prstGeom prst="ellipse">
            <a:avLst/>
          </a:prstGeom>
          <a:solidFill>
            <a:srgbClr val="11828A"/>
          </a:solidFill>
          <a:ln w="12700">
            <a:solidFill>
              <a:srgbClr val="11828A"/>
            </a:solidFill>
            <a:prstDash val="solid"/>
          </a:ln>
        </p:spPr>
        <p:txBody>
          <a:bodyPr/>
          <a:lstStyle/>
          <a:p>
            <a:endParaRPr lang="en-IN"/>
          </a:p>
        </p:txBody>
      </p:sp>
      <p:sp>
        <p:nvSpPr>
          <p:cNvPr id="6" name="Text 3"/>
          <p:cNvSpPr txBox="1"/>
          <p:nvPr/>
        </p:nvSpPr>
        <p:spPr>
          <a:xfrm>
            <a:off x="896112" y="3611880"/>
            <a:ext cx="5486400" cy="274320"/>
          </a:xfrm>
          <a:prstGeom prst="rect">
            <a:avLst/>
          </a:prstGeom>
          <a:noFill/>
          <a:ln/>
        </p:spPr>
        <p:txBody>
          <a:bodyPr wrap="square" lIns="0" tIns="0" rIns="0" bIns="0" rtlCol="0" anchor="ctr"/>
          <a:lstStyle/>
          <a:p>
            <a:pPr marL="0" indent="0">
              <a:buNone/>
            </a:pPr>
            <a:r>
              <a:rPr lang="en-US" sz="1350" b="1" dirty="0">
                <a:solidFill>
                  <a:srgbClr val="12263F"/>
                </a:solidFill>
                <a:latin typeface="Calibri" pitchFamily="34" charset="0"/>
                <a:ea typeface="Calibri" pitchFamily="34" charset="-122"/>
                <a:cs typeface="Calibri" pitchFamily="34" charset="-120"/>
              </a:rPr>
              <a:t>8 POs · 240 units ordered</a:t>
            </a:r>
            <a:endParaRPr lang="en-US" sz="1350" dirty="0"/>
          </a:p>
        </p:txBody>
      </p:sp>
      <p:sp>
        <p:nvSpPr>
          <p:cNvPr id="7" name="Text 4"/>
          <p:cNvSpPr txBox="1"/>
          <p:nvPr/>
        </p:nvSpPr>
        <p:spPr>
          <a:xfrm>
            <a:off x="896112" y="3877056"/>
            <a:ext cx="5486400" cy="274320"/>
          </a:xfrm>
          <a:prstGeom prst="rect">
            <a:avLst/>
          </a:prstGeom>
          <a:noFill/>
          <a:ln/>
        </p:spPr>
        <p:txBody>
          <a:bodyPr wrap="square" lIns="0" tIns="0" rIns="0" bIns="0" rtlCol="0" anchor="ctr"/>
          <a:lstStyle/>
          <a:p>
            <a:pPr marL="0" indent="0">
              <a:buNone/>
            </a:pPr>
            <a:r>
              <a:rPr lang="en-US" sz="1250" dirty="0">
                <a:solidFill>
                  <a:srgbClr val="6B7A8C"/>
                </a:solidFill>
                <a:latin typeface="Calibri" pitchFamily="34" charset="0"/>
                <a:ea typeface="Calibri" pitchFamily="34" charset="-122"/>
                <a:cs typeface="Calibri" pitchFamily="34" charset="-120"/>
              </a:rPr>
              <a:t>Apex delivered 80% — 48 units never arrived</a:t>
            </a:r>
            <a:endParaRPr lang="en-US" sz="1250" dirty="0"/>
          </a:p>
        </p:txBody>
      </p:sp>
      <p:sp>
        <p:nvSpPr>
          <p:cNvPr id="8" name="Shape 5"/>
          <p:cNvSpPr/>
          <p:nvPr/>
        </p:nvSpPr>
        <p:spPr>
          <a:xfrm>
            <a:off x="566928" y="4325112"/>
            <a:ext cx="182880" cy="182880"/>
          </a:xfrm>
          <a:prstGeom prst="ellipse">
            <a:avLst/>
          </a:prstGeom>
          <a:solidFill>
            <a:srgbClr val="11828A"/>
          </a:solidFill>
          <a:ln w="12700">
            <a:solidFill>
              <a:srgbClr val="11828A"/>
            </a:solidFill>
            <a:prstDash val="solid"/>
          </a:ln>
        </p:spPr>
        <p:txBody>
          <a:bodyPr/>
          <a:lstStyle/>
          <a:p>
            <a:endParaRPr lang="en-IN"/>
          </a:p>
        </p:txBody>
      </p:sp>
      <p:sp>
        <p:nvSpPr>
          <p:cNvPr id="9" name="Text 6"/>
          <p:cNvSpPr txBox="1"/>
          <p:nvPr/>
        </p:nvSpPr>
        <p:spPr>
          <a:xfrm>
            <a:off x="896112" y="4270248"/>
            <a:ext cx="5486400" cy="274320"/>
          </a:xfrm>
          <a:prstGeom prst="rect">
            <a:avLst/>
          </a:prstGeom>
          <a:noFill/>
          <a:ln/>
        </p:spPr>
        <p:txBody>
          <a:bodyPr wrap="square" lIns="0" tIns="0" rIns="0" bIns="0" rtlCol="0" anchor="ctr"/>
          <a:lstStyle/>
          <a:p>
            <a:pPr marL="0" indent="0">
              <a:buNone/>
            </a:pPr>
            <a:r>
              <a:rPr lang="en-US" sz="1350" b="1" dirty="0">
                <a:solidFill>
                  <a:srgbClr val="12263F"/>
                </a:solidFill>
                <a:latin typeface="Calibri" pitchFamily="34" charset="0"/>
                <a:ea typeface="Calibri" pitchFamily="34" charset="-122"/>
                <a:cs typeface="Calibri" pitchFamily="34" charset="-120"/>
              </a:rPr>
              <a:t>4 POs · 120 units ordered</a:t>
            </a:r>
            <a:endParaRPr lang="en-US" sz="1350" dirty="0"/>
          </a:p>
        </p:txBody>
      </p:sp>
      <p:sp>
        <p:nvSpPr>
          <p:cNvPr id="10" name="Text 7"/>
          <p:cNvSpPr txBox="1"/>
          <p:nvPr/>
        </p:nvSpPr>
        <p:spPr>
          <a:xfrm>
            <a:off x="896112" y="4535424"/>
            <a:ext cx="5486400" cy="274320"/>
          </a:xfrm>
          <a:prstGeom prst="rect">
            <a:avLst/>
          </a:prstGeom>
          <a:noFill/>
          <a:ln/>
        </p:spPr>
        <p:txBody>
          <a:bodyPr wrap="square" lIns="0" tIns="0" rIns="0" bIns="0" rtlCol="0" anchor="ctr"/>
          <a:lstStyle/>
          <a:p>
            <a:pPr marL="0" indent="0">
              <a:buNone/>
            </a:pPr>
            <a:r>
              <a:rPr lang="en-US" sz="1250" dirty="0">
                <a:solidFill>
                  <a:srgbClr val="6B7A8C"/>
                </a:solidFill>
                <a:latin typeface="Calibri" pitchFamily="34" charset="0"/>
                <a:ea typeface="Calibri" pitchFamily="34" charset="-122"/>
                <a:cs typeface="Calibri" pitchFamily="34" charset="-120"/>
              </a:rPr>
              <a:t>Sunrise delivered 95% — 6 units short</a:t>
            </a:r>
            <a:endParaRPr lang="en-US" sz="1250" dirty="0"/>
          </a:p>
        </p:txBody>
      </p:sp>
      <p:sp>
        <p:nvSpPr>
          <p:cNvPr id="11" name="Shape 8"/>
          <p:cNvSpPr/>
          <p:nvPr/>
        </p:nvSpPr>
        <p:spPr>
          <a:xfrm>
            <a:off x="566928" y="4983480"/>
            <a:ext cx="182880" cy="182880"/>
          </a:xfrm>
          <a:prstGeom prst="ellipse">
            <a:avLst/>
          </a:prstGeom>
          <a:solidFill>
            <a:srgbClr val="11828A"/>
          </a:solidFill>
          <a:ln w="12700">
            <a:solidFill>
              <a:srgbClr val="11828A"/>
            </a:solidFill>
            <a:prstDash val="solid"/>
          </a:ln>
        </p:spPr>
        <p:txBody>
          <a:bodyPr/>
          <a:lstStyle/>
          <a:p>
            <a:endParaRPr lang="en-IN"/>
          </a:p>
        </p:txBody>
      </p:sp>
      <p:sp>
        <p:nvSpPr>
          <p:cNvPr id="12" name="Text 9"/>
          <p:cNvSpPr txBox="1"/>
          <p:nvPr/>
        </p:nvSpPr>
        <p:spPr>
          <a:xfrm>
            <a:off x="896112" y="4928616"/>
            <a:ext cx="5486400" cy="274320"/>
          </a:xfrm>
          <a:prstGeom prst="rect">
            <a:avLst/>
          </a:prstGeom>
          <a:noFill/>
          <a:ln/>
        </p:spPr>
        <p:txBody>
          <a:bodyPr wrap="square" lIns="0" tIns="0" rIns="0" bIns="0" rtlCol="0" anchor="ctr"/>
          <a:lstStyle/>
          <a:p>
            <a:pPr marL="0" indent="0">
              <a:buNone/>
            </a:pPr>
            <a:r>
              <a:rPr lang="en-US" sz="1350" b="1" dirty="0">
                <a:solidFill>
                  <a:srgbClr val="12263F"/>
                </a:solidFill>
                <a:latin typeface="Calibri" pitchFamily="34" charset="0"/>
                <a:ea typeface="Calibri" pitchFamily="34" charset="-122"/>
                <a:cs typeface="Calibri" pitchFamily="34" charset="-120"/>
              </a:rPr>
              <a:t>7 short-ship alerts raised</a:t>
            </a:r>
            <a:endParaRPr lang="en-US" sz="1350" dirty="0"/>
          </a:p>
        </p:txBody>
      </p:sp>
      <p:sp>
        <p:nvSpPr>
          <p:cNvPr id="13" name="Text 10"/>
          <p:cNvSpPr txBox="1"/>
          <p:nvPr/>
        </p:nvSpPr>
        <p:spPr>
          <a:xfrm>
            <a:off x="896112" y="5193792"/>
            <a:ext cx="5486400" cy="274320"/>
          </a:xfrm>
          <a:prstGeom prst="rect">
            <a:avLst/>
          </a:prstGeom>
          <a:noFill/>
          <a:ln/>
        </p:spPr>
        <p:txBody>
          <a:bodyPr wrap="square" lIns="0" tIns="0" rIns="0" bIns="0" rtlCol="0" anchor="ctr"/>
          <a:lstStyle/>
          <a:p>
            <a:pPr marL="0" indent="0">
              <a:buNone/>
            </a:pPr>
            <a:r>
              <a:rPr lang="en-US" sz="1250" dirty="0">
                <a:solidFill>
                  <a:srgbClr val="6B7A8C"/>
                </a:solidFill>
                <a:latin typeface="Calibri" pitchFamily="34" charset="0"/>
                <a:ea typeface="Calibri" pitchFamily="34" charset="-122"/>
                <a:cs typeface="Calibri" pitchFamily="34" charset="-120"/>
              </a:rPr>
              <a:t>every incomplete delivery flagged in-stream</a:t>
            </a:r>
            <a:endParaRPr lang="en-US" sz="1250" dirty="0"/>
          </a:p>
        </p:txBody>
      </p:sp>
      <p:sp>
        <p:nvSpPr>
          <p:cNvPr id="14" name="Shape 11"/>
          <p:cNvSpPr/>
          <p:nvPr/>
        </p:nvSpPr>
        <p:spPr>
          <a:xfrm>
            <a:off x="6720840" y="1554480"/>
            <a:ext cx="4892040" cy="4023360"/>
          </a:xfrm>
          <a:prstGeom prst="roundRect">
            <a:avLst>
              <a:gd name="adj" fmla="val 1818"/>
            </a:avLst>
          </a:prstGeom>
          <a:solidFill>
            <a:srgbClr val="F4F6F8"/>
          </a:solidFill>
          <a:ln w="12700">
            <a:solidFill>
              <a:srgbClr val="F4F6F8"/>
            </a:solidFill>
            <a:prstDash val="solid"/>
          </a:ln>
        </p:spPr>
        <p:txBody>
          <a:bodyPr/>
          <a:lstStyle/>
          <a:p>
            <a:endParaRPr lang="en-IN"/>
          </a:p>
        </p:txBody>
      </p:sp>
      <p:sp>
        <p:nvSpPr>
          <p:cNvPr id="15" name="Text 12"/>
          <p:cNvSpPr txBox="1"/>
          <p:nvPr/>
        </p:nvSpPr>
        <p:spPr>
          <a:xfrm>
            <a:off x="6949440" y="1755648"/>
            <a:ext cx="4480560" cy="274320"/>
          </a:xfrm>
          <a:prstGeom prst="rect">
            <a:avLst/>
          </a:prstGeom>
          <a:noFill/>
          <a:ln/>
        </p:spPr>
        <p:txBody>
          <a:bodyPr wrap="square" lIns="0" tIns="0" rIns="0" bIns="0" rtlCol="0" anchor="ctr"/>
          <a:lstStyle/>
          <a:p>
            <a:pPr marL="0" indent="0">
              <a:buNone/>
            </a:pPr>
            <a:r>
              <a:rPr lang="en-US" sz="1600" b="1" dirty="0">
                <a:solidFill>
                  <a:srgbClr val="12263F"/>
                </a:solidFill>
                <a:latin typeface="Calibri" pitchFamily="34" charset="0"/>
                <a:ea typeface="Calibri" pitchFamily="34" charset="-122"/>
                <a:cs typeface="Calibri" pitchFamily="34" charset="-120"/>
              </a:rPr>
              <a:t>The chain the dashboard exposes</a:t>
            </a:r>
            <a:endParaRPr lang="en-US" sz="1600" dirty="0"/>
          </a:p>
        </p:txBody>
      </p:sp>
      <p:sp>
        <p:nvSpPr>
          <p:cNvPr id="16" name="Text 13"/>
          <p:cNvSpPr txBox="1"/>
          <p:nvPr/>
        </p:nvSpPr>
        <p:spPr>
          <a:xfrm>
            <a:off x="6949440" y="2148840"/>
            <a:ext cx="274320" cy="457200"/>
          </a:xfrm>
          <a:prstGeom prst="rect">
            <a:avLst/>
          </a:prstGeom>
          <a:noFill/>
          <a:ln/>
        </p:spPr>
        <p:txBody>
          <a:bodyPr wrap="square" lIns="0" tIns="0" rIns="0" bIns="0" rtlCol="0" anchor="ctr"/>
          <a:lstStyle/>
          <a:p>
            <a:pPr marL="0" indent="0">
              <a:buNone/>
            </a:pPr>
            <a:r>
              <a:rPr lang="en-US" sz="1200" b="1" dirty="0">
                <a:solidFill>
                  <a:srgbClr val="E9A13B"/>
                </a:solidFill>
                <a:latin typeface="Calibri" pitchFamily="34" charset="0"/>
                <a:ea typeface="Calibri" pitchFamily="34" charset="-122"/>
                <a:cs typeface="Calibri" pitchFamily="34" charset="-120"/>
              </a:rPr>
              <a:t>1</a:t>
            </a:r>
            <a:endParaRPr lang="en-US" sz="1200" dirty="0"/>
          </a:p>
        </p:txBody>
      </p:sp>
      <p:sp>
        <p:nvSpPr>
          <p:cNvPr id="17" name="Text 14"/>
          <p:cNvSpPr txBox="1"/>
          <p:nvPr/>
        </p:nvSpPr>
        <p:spPr>
          <a:xfrm>
            <a:off x="7269480" y="2148840"/>
            <a:ext cx="4160520" cy="45720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Reorder point fires correctly as stock falls</a:t>
            </a:r>
            <a:endParaRPr lang="en-US" sz="1250" dirty="0"/>
          </a:p>
        </p:txBody>
      </p:sp>
      <p:sp>
        <p:nvSpPr>
          <p:cNvPr id="18" name="Text 15"/>
          <p:cNvSpPr txBox="1"/>
          <p:nvPr/>
        </p:nvSpPr>
        <p:spPr>
          <a:xfrm>
            <a:off x="6949440" y="2715768"/>
            <a:ext cx="274320" cy="457200"/>
          </a:xfrm>
          <a:prstGeom prst="rect">
            <a:avLst/>
          </a:prstGeom>
          <a:noFill/>
          <a:ln/>
        </p:spPr>
        <p:txBody>
          <a:bodyPr wrap="square" lIns="0" tIns="0" rIns="0" bIns="0" rtlCol="0" anchor="ctr"/>
          <a:lstStyle/>
          <a:p>
            <a:pPr marL="0" indent="0">
              <a:buNone/>
            </a:pPr>
            <a:r>
              <a:rPr lang="en-US" sz="1200" b="1" dirty="0">
                <a:solidFill>
                  <a:srgbClr val="E9A13B"/>
                </a:solidFill>
                <a:latin typeface="Calibri" pitchFamily="34" charset="0"/>
                <a:ea typeface="Calibri" pitchFamily="34" charset="-122"/>
                <a:cs typeface="Calibri" pitchFamily="34" charset="-120"/>
              </a:rPr>
              <a:t>2</a:t>
            </a:r>
            <a:endParaRPr lang="en-US" sz="1200" dirty="0"/>
          </a:p>
        </p:txBody>
      </p:sp>
      <p:sp>
        <p:nvSpPr>
          <p:cNvPr id="19" name="Text 16"/>
          <p:cNvSpPr txBox="1"/>
          <p:nvPr/>
        </p:nvSpPr>
        <p:spPr>
          <a:xfrm>
            <a:off x="7269480" y="2715768"/>
            <a:ext cx="4160520" cy="45720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Supplier ships only 80% of the order</a:t>
            </a:r>
            <a:endParaRPr lang="en-US" sz="1250" dirty="0"/>
          </a:p>
        </p:txBody>
      </p:sp>
      <p:sp>
        <p:nvSpPr>
          <p:cNvPr id="20" name="Text 17"/>
          <p:cNvSpPr txBox="1"/>
          <p:nvPr/>
        </p:nvSpPr>
        <p:spPr>
          <a:xfrm>
            <a:off x="6949440" y="3282696"/>
            <a:ext cx="274320" cy="457200"/>
          </a:xfrm>
          <a:prstGeom prst="rect">
            <a:avLst/>
          </a:prstGeom>
          <a:noFill/>
          <a:ln/>
        </p:spPr>
        <p:txBody>
          <a:bodyPr wrap="square" lIns="0" tIns="0" rIns="0" bIns="0" rtlCol="0" anchor="ctr"/>
          <a:lstStyle/>
          <a:p>
            <a:pPr marL="0" indent="0">
              <a:buNone/>
            </a:pPr>
            <a:r>
              <a:rPr lang="en-US" sz="1200" b="1" dirty="0">
                <a:solidFill>
                  <a:srgbClr val="E9A13B"/>
                </a:solidFill>
                <a:latin typeface="Calibri" pitchFamily="34" charset="0"/>
                <a:ea typeface="Calibri" pitchFamily="34" charset="-122"/>
                <a:cs typeface="Calibri" pitchFamily="34" charset="-120"/>
              </a:rPr>
              <a:t>3</a:t>
            </a:r>
            <a:endParaRPr lang="en-US" sz="1200" dirty="0"/>
          </a:p>
        </p:txBody>
      </p:sp>
      <p:sp>
        <p:nvSpPr>
          <p:cNvPr id="21" name="Text 18"/>
          <p:cNvSpPr txBox="1"/>
          <p:nvPr/>
        </p:nvSpPr>
        <p:spPr>
          <a:xfrm>
            <a:off x="7269480" y="3282696"/>
            <a:ext cx="4160520" cy="45720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Replenishment cover is a fifth smaller than planned</a:t>
            </a:r>
            <a:endParaRPr lang="en-US" sz="1250" dirty="0"/>
          </a:p>
        </p:txBody>
      </p:sp>
      <p:sp>
        <p:nvSpPr>
          <p:cNvPr id="22" name="Text 19"/>
          <p:cNvSpPr txBox="1"/>
          <p:nvPr/>
        </p:nvSpPr>
        <p:spPr>
          <a:xfrm>
            <a:off x="6949440" y="3849624"/>
            <a:ext cx="274320" cy="457200"/>
          </a:xfrm>
          <a:prstGeom prst="rect">
            <a:avLst/>
          </a:prstGeom>
          <a:noFill/>
          <a:ln/>
        </p:spPr>
        <p:txBody>
          <a:bodyPr wrap="square" lIns="0" tIns="0" rIns="0" bIns="0" rtlCol="0" anchor="ctr"/>
          <a:lstStyle/>
          <a:p>
            <a:pPr marL="0" indent="0">
              <a:buNone/>
            </a:pPr>
            <a:r>
              <a:rPr lang="en-US" sz="1200" b="1" dirty="0">
                <a:solidFill>
                  <a:srgbClr val="E9A13B"/>
                </a:solidFill>
                <a:latin typeface="Calibri" pitchFamily="34" charset="0"/>
                <a:ea typeface="Calibri" pitchFamily="34" charset="-122"/>
                <a:cs typeface="Calibri" pitchFamily="34" charset="-120"/>
              </a:rPr>
              <a:t>4</a:t>
            </a:r>
            <a:endParaRPr lang="en-US" sz="1200" dirty="0"/>
          </a:p>
        </p:txBody>
      </p:sp>
      <p:sp>
        <p:nvSpPr>
          <p:cNvPr id="23" name="Text 20"/>
          <p:cNvSpPr txBox="1"/>
          <p:nvPr/>
        </p:nvSpPr>
        <p:spPr>
          <a:xfrm>
            <a:off x="7269480" y="3849624"/>
            <a:ext cx="4160520" cy="45720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Stock reaches zero before the next PO lands</a:t>
            </a:r>
            <a:endParaRPr lang="en-US" sz="1250" dirty="0"/>
          </a:p>
        </p:txBody>
      </p:sp>
      <p:sp>
        <p:nvSpPr>
          <p:cNvPr id="24" name="Text 21"/>
          <p:cNvSpPr txBox="1"/>
          <p:nvPr/>
        </p:nvSpPr>
        <p:spPr>
          <a:xfrm>
            <a:off x="6949440" y="4416552"/>
            <a:ext cx="274320" cy="457200"/>
          </a:xfrm>
          <a:prstGeom prst="rect">
            <a:avLst/>
          </a:prstGeom>
          <a:noFill/>
          <a:ln/>
        </p:spPr>
        <p:txBody>
          <a:bodyPr wrap="square" lIns="0" tIns="0" rIns="0" bIns="0" rtlCol="0" anchor="ctr"/>
          <a:lstStyle/>
          <a:p>
            <a:pPr marL="0" indent="0">
              <a:buNone/>
            </a:pPr>
            <a:r>
              <a:rPr lang="en-US" sz="1200" b="1" dirty="0">
                <a:solidFill>
                  <a:srgbClr val="E9A13B"/>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7269480" y="4416552"/>
            <a:ext cx="4160520" cy="45720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IMS delists the SKU · OMS cancels the orders</a:t>
            </a:r>
            <a:endParaRPr lang="en-US" sz="1250" dirty="0"/>
          </a:p>
        </p:txBody>
      </p:sp>
      <p:sp>
        <p:nvSpPr>
          <p:cNvPr id="26" name="Text 23"/>
          <p:cNvSpPr txBox="1"/>
          <p:nvPr/>
        </p:nvSpPr>
        <p:spPr>
          <a:xfrm>
            <a:off x="6949440" y="4983480"/>
            <a:ext cx="274320" cy="457200"/>
          </a:xfrm>
          <a:prstGeom prst="rect">
            <a:avLst/>
          </a:prstGeom>
          <a:noFill/>
          <a:ln/>
        </p:spPr>
        <p:txBody>
          <a:bodyPr wrap="square" lIns="0" tIns="0" rIns="0" bIns="0" rtlCol="0" anchor="ctr"/>
          <a:lstStyle/>
          <a:p>
            <a:pPr marL="0" indent="0">
              <a:buNone/>
            </a:pPr>
            <a:r>
              <a:rPr lang="en-US" sz="1200" b="1" dirty="0">
                <a:solidFill>
                  <a:srgbClr val="E9A13B"/>
                </a:solidFill>
                <a:latin typeface="Calibri" pitchFamily="34" charset="0"/>
                <a:ea typeface="Calibri" pitchFamily="34" charset="-122"/>
                <a:cs typeface="Calibri" pitchFamily="34" charset="-120"/>
              </a:rPr>
              <a:t>6</a:t>
            </a:r>
            <a:endParaRPr lang="en-US" sz="1200" dirty="0"/>
          </a:p>
        </p:txBody>
      </p:sp>
      <p:sp>
        <p:nvSpPr>
          <p:cNvPr id="27" name="Text 24"/>
          <p:cNvSpPr txBox="1"/>
          <p:nvPr/>
        </p:nvSpPr>
        <p:spPr>
          <a:xfrm>
            <a:off x="7269480" y="4983480"/>
            <a:ext cx="4160520" cy="457200"/>
          </a:xfrm>
          <a:prstGeom prst="rect">
            <a:avLst/>
          </a:prstGeom>
          <a:noFill/>
          <a:ln/>
        </p:spPr>
        <p:txBody>
          <a:bodyPr wrap="square" lIns="0" tIns="0" rIns="0" bIns="0" rtlCol="0" anchor="ctr"/>
          <a:lstStyle/>
          <a:p>
            <a:pPr marL="0" indent="0">
              <a:buNone/>
            </a:pPr>
            <a:r>
              <a:rPr lang="en-US" sz="1250" b="1" dirty="0">
                <a:solidFill>
                  <a:srgbClr val="C1442E"/>
                </a:solidFill>
                <a:latin typeface="Calibri" pitchFamily="34" charset="0"/>
                <a:ea typeface="Calibri" pitchFamily="34" charset="-122"/>
                <a:cs typeface="Calibri" pitchFamily="34" charset="-120"/>
              </a:rPr>
              <a:t>₹11,821 of demand lost — SKU-3003-BLK-42 out of stock in 25% of its warehouse positions</a:t>
            </a:r>
            <a:endParaRPr lang="en-US" sz="1250" dirty="0"/>
          </a:p>
        </p:txBody>
      </p:sp>
      <p:sp>
        <p:nvSpPr>
          <p:cNvPr id="28" name="Shape 25"/>
          <p:cNvSpPr/>
          <p:nvPr/>
        </p:nvSpPr>
        <p:spPr>
          <a:xfrm>
            <a:off x="566928" y="576072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29" name="Text 26"/>
          <p:cNvSpPr txBox="1"/>
          <p:nvPr/>
        </p:nvSpPr>
        <p:spPr>
          <a:xfrm>
            <a:off x="795528" y="587044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Raising the reorder point would not have prevented this. Fixing Apex's fill rate would. That conclusion needs the purchase-order stream and the stock ledger side by side.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Insight 7 — Where the Next Marketing Rupee Should Go</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Charts 2.3 and 2.2 · checkout conversion by acquisition channel and device</a:t>
            </a:r>
            <a:endParaRPr lang="en-US" sz="1400" dirty="0"/>
          </a:p>
        </p:txBody>
      </p:sp>
      <p:graphicFrame>
        <p:nvGraphicFramePr>
          <p:cNvPr id="4" name="Chart 0"/>
          <p:cNvGraphicFramePr/>
          <p:nvPr/>
        </p:nvGraphicFramePr>
        <p:xfrm>
          <a:off x="566928" y="1554480"/>
          <a:ext cx="60350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903720" y="1554480"/>
            <a:ext cx="4754880" cy="27432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Conversion by device</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903720" y="1901952"/>
          <a:ext cx="4754880" cy="1536192"/>
        </p:xfrm>
        <a:graphic>
          <a:graphicData uri="http://schemas.openxmlformats.org/drawingml/2006/table">
            <a:tbl>
              <a:tblPr/>
              <a:tblGrid>
                <a:gridCol w="1188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22303F"/>
                          </a:solidFill>
                          <a:latin typeface="Calibri" pitchFamily="34" charset="0"/>
                          <a:ea typeface="Calibri" pitchFamily="34" charset="-122"/>
                          <a:cs typeface="Calibri" pitchFamily="34" charset="-120"/>
                        </a:rPr>
                        <a:t>Device</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b="1" dirty="0">
                          <a:solidFill>
                            <a:srgbClr val="22303F"/>
                          </a:solidFill>
                          <a:latin typeface="Calibri" pitchFamily="34" charset="0"/>
                          <a:ea typeface="Calibri" pitchFamily="34" charset="-122"/>
                          <a:cs typeface="Calibri" pitchFamily="34" charset="-120"/>
                        </a:rPr>
                        <a:t>Sessions</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b="1" dirty="0">
                          <a:solidFill>
                            <a:srgbClr val="22303F"/>
                          </a:solidFill>
                          <a:latin typeface="Calibri" pitchFamily="34" charset="0"/>
                          <a:ea typeface="Calibri" pitchFamily="34" charset="-122"/>
                          <a:cs typeface="Calibri" pitchFamily="34" charset="-120"/>
                        </a:rPr>
                        <a:t>Reached click</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b="1" dirty="0">
                          <a:solidFill>
                            <a:srgbClr val="22303F"/>
                          </a:solidFill>
                          <a:latin typeface="Calibri" pitchFamily="34" charset="0"/>
                          <a:ea typeface="Calibri" pitchFamily="34" charset="-122"/>
                          <a:cs typeface="Calibri" pitchFamily="34" charset="-120"/>
                        </a:rPr>
                        <a:t>Reached cart</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Mobile</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664</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74.8%</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33.0%</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Desktop</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338</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78.4%</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36.1%</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Tablet</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72.2%</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00" dirty="0">
                          <a:solidFill>
                            <a:srgbClr val="22303F"/>
                          </a:solidFill>
                          <a:latin typeface="Calibri" pitchFamily="34" charset="0"/>
                          <a:ea typeface="Calibri" pitchFamily="34" charset="-122"/>
                          <a:cs typeface="Calibri" pitchFamily="34" charset="-120"/>
                        </a:rPr>
                        <a:t>39.8%</a:t>
                      </a:r>
                      <a:endParaRPr lang="en-US" sz="1200" dirty="0">
                        <a:latin typeface="Calibri" charset="0"/>
                        <a:ea typeface="Calibri" charset="0"/>
                        <a:cs typeface="Calibri" charset="0"/>
                      </a:endParaRPr>
                    </a:p>
                  </a:txBody>
                  <a:tcPr marL="63500" marR="63500" marT="63500" marB="635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6903720" y="3749040"/>
            <a:ext cx="4754880" cy="1828800"/>
          </a:xfrm>
          <a:prstGeom prst="roundRect">
            <a:avLst>
              <a:gd name="adj" fmla="val 4000"/>
            </a:avLst>
          </a:prstGeom>
          <a:solidFill>
            <a:srgbClr val="F4F6F8"/>
          </a:solidFill>
          <a:ln w="12700">
            <a:solidFill>
              <a:srgbClr val="F4F6F8"/>
            </a:solidFill>
            <a:prstDash val="solid"/>
          </a:ln>
        </p:spPr>
        <p:txBody>
          <a:bodyPr/>
          <a:lstStyle/>
          <a:p>
            <a:endParaRPr lang="en-IN"/>
          </a:p>
        </p:txBody>
      </p:sp>
      <p:sp>
        <p:nvSpPr>
          <p:cNvPr id="8" name="Text 4"/>
          <p:cNvSpPr txBox="1"/>
          <p:nvPr/>
        </p:nvSpPr>
        <p:spPr>
          <a:xfrm>
            <a:off x="7132320" y="3913632"/>
            <a:ext cx="4297680" cy="274320"/>
          </a:xfrm>
          <a:prstGeom prst="rect">
            <a:avLst/>
          </a:prstGeom>
          <a:noFill/>
          <a:ln/>
        </p:spPr>
        <p:txBody>
          <a:bodyPr wrap="square" lIns="0" tIns="0" rIns="0" bIns="0" rtlCol="0" anchor="ctr"/>
          <a:lstStyle/>
          <a:p>
            <a:pPr marL="0" indent="0">
              <a:buNone/>
            </a:pPr>
            <a:r>
              <a:rPr lang="en-US" sz="1500" b="1" dirty="0">
                <a:solidFill>
                  <a:srgbClr val="12263F"/>
                </a:solidFill>
                <a:latin typeface="Calibri" pitchFamily="34" charset="0"/>
                <a:ea typeface="Calibri" pitchFamily="34" charset="-122"/>
                <a:cs typeface="Calibri" pitchFamily="34" charset="-120"/>
              </a:rPr>
              <a:t>Two different problems</a:t>
            </a:r>
            <a:endParaRPr lang="en-US" sz="1500" dirty="0"/>
          </a:p>
        </p:txBody>
      </p:sp>
      <p:sp>
        <p:nvSpPr>
          <p:cNvPr id="9" name="Text 5"/>
          <p:cNvSpPr txBox="1"/>
          <p:nvPr/>
        </p:nvSpPr>
        <p:spPr>
          <a:xfrm>
            <a:off x="7132320" y="4224528"/>
            <a:ext cx="4297680" cy="128016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Email converts at 1.8× Paid Ads, yet Paid Ads carries the spend. That is a budget allocation decision.</a:t>
            </a:r>
            <a:endParaRPr lang="en-US" sz="1250" dirty="0"/>
          </a:p>
          <a:p>
            <a:pPr marL="0" indent="0">
              <a:buNone/>
            </a:pPr>
            <a:endParaRPr lang="en-US" sz="1250" dirty="0"/>
          </a:p>
          <a:p>
            <a:pPr marL="0" indent="0">
              <a:buNone/>
            </a:pPr>
            <a:r>
              <a:rPr lang="en-US" sz="1250" dirty="0">
                <a:solidFill>
                  <a:srgbClr val="33465C"/>
                </a:solidFill>
                <a:latin typeface="Calibri" pitchFamily="34" charset="0"/>
                <a:ea typeface="Calibri" pitchFamily="34" charset="-122"/>
                <a:cs typeface="Calibri" pitchFamily="34" charset="-120"/>
              </a:rPr>
              <a:t>Mobile is 60% of sessions but has the weakest cart rate of the three devices. That is a checkout UX defect, not a traffic problem.</a:t>
            </a:r>
            <a:endParaRPr lang="en-US" sz="1250" dirty="0"/>
          </a:p>
        </p:txBody>
      </p:sp>
      <p:sp>
        <p:nvSpPr>
          <p:cNvPr id="10" name="Shape 6"/>
          <p:cNvSpPr/>
          <p:nvPr/>
        </p:nvSpPr>
        <p:spPr>
          <a:xfrm>
            <a:off x="566928" y="580644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11" name="Text 7"/>
          <p:cNvSpPr txBox="1"/>
          <p:nvPr/>
        </p:nvSpPr>
        <p:spPr>
          <a:xfrm>
            <a:off x="795528" y="591616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Absolute session counts would have ranked Paid Ads and Mobile first. Normalising by conversion reverses both conclusions.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What a Daily Batch Report Could Not Have Produced</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Each row is a decision with a window measured in minutes</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11064240" cy="3520440"/>
        </p:xfrm>
        <a:graphic>
          <a:graphicData uri="http://schemas.openxmlformats.org/drawingml/2006/table">
            <a:tbl>
              <a:tblPr/>
              <a:tblGrid>
                <a:gridCol w="393192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02920">
                <a:tc>
                  <a:txBody>
                    <a:bodyPr/>
                    <a:lstStyle/>
                    <a:p>
                      <a:pPr marL="0" indent="0">
                        <a:buNone/>
                      </a:pPr>
                      <a:r>
                        <a:rPr lang="en-US" sz="1250" b="1" dirty="0">
                          <a:solidFill>
                            <a:srgbClr val="22303F"/>
                          </a:solidFill>
                          <a:latin typeface="Calibri" pitchFamily="34" charset="0"/>
                          <a:ea typeface="Calibri" pitchFamily="34" charset="-122"/>
                          <a:cs typeface="Calibri" pitchFamily="34" charset="-120"/>
                        </a:rPr>
                        <a:t>Insight</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b="1" dirty="0">
                          <a:solidFill>
                            <a:srgbClr val="22303F"/>
                          </a:solidFill>
                          <a:latin typeface="Calibri" pitchFamily="34" charset="0"/>
                          <a:ea typeface="Calibri" pitchFamily="34" charset="-122"/>
                          <a:cs typeface="Calibri" pitchFamily="34" charset="-120"/>
                        </a:rPr>
                        <a:t>Why batch fails</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b="1" dirty="0">
                          <a:solidFill>
                            <a:srgbClr val="22303F"/>
                          </a:solidFill>
                          <a:latin typeface="Calibri" pitchFamily="34" charset="0"/>
                          <a:ea typeface="Calibri" pitchFamily="34" charset="-122"/>
                          <a:cs typeface="Calibri" pitchFamily="34" charset="-120"/>
                        </a:rPr>
                        <a:t>Value at stake</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Delist a SKU the moment stock hits zero</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Overnight, the orders are already taken and must be cancelled</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₹11,821</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Cart abandonment</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Triggered by the absence of an event — no record to join on</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₹7,92,271</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Hold a fraud pattern before settlement</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Retries resolve in seconds; by morning the money has moved</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13 orders, 100% caught</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Lost revenue split by root cause</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Requires four systems joined at the order level, live</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₹2,67,389</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Gateway outage vs customer-side failure</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Same headline rate, opposite responses</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₹1,61,172</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Supplier short-ship before the stock-out</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PO stream and stock ledger must be read together</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tc>
                  <a:txBody>
                    <a:bodyPr/>
                    <a:lstStyle/>
                    <a:p>
                      <a:pPr marL="0" indent="0">
                        <a:buNone/>
                      </a:pPr>
                      <a:r>
                        <a:rPr lang="en-US" sz="1250" dirty="0">
                          <a:solidFill>
                            <a:srgbClr val="22303F"/>
                          </a:solidFill>
                          <a:latin typeface="Calibri" pitchFamily="34" charset="0"/>
                          <a:ea typeface="Calibri" pitchFamily="34" charset="-122"/>
                          <a:cs typeface="Calibri" pitchFamily="34" charset="-120"/>
                        </a:rPr>
                        <a:t>48 units of cover</a:t>
                      </a:r>
                      <a:endParaRPr lang="en-US" sz="1250" dirty="0">
                        <a:latin typeface="Calibri" charset="0"/>
                        <a:ea typeface="Calibri" charset="0"/>
                        <a:cs typeface="Calibri" charset="0"/>
                      </a:endParaRPr>
                    </a:p>
                  </a:txBody>
                  <a:tcPr marL="76200" marR="76200" marT="76200" marB="76200" anchor="ctr">
                    <a:lnL w="12700" cap="flat" cmpd="sng" algn="ctr">
                      <a:solidFill>
                        <a:srgbClr val="E3E8ED"/>
                      </a:solidFill>
                      <a:prstDash val="solid"/>
                      <a:round/>
                      <a:headEnd type="none" w="med" len="med"/>
                      <a:tailEnd type="none" w="med" len="med"/>
                    </a:lnL>
                    <a:lnR w="12700" cap="flat" cmpd="sng" algn="ctr">
                      <a:solidFill>
                        <a:srgbClr val="E3E8ED"/>
                      </a:solidFill>
                      <a:prstDash val="solid"/>
                      <a:round/>
                      <a:headEnd type="none" w="med" len="med"/>
                      <a:tailEnd type="none" w="med" len="med"/>
                    </a:lnR>
                    <a:lnT w="12700" cap="flat" cmpd="sng" algn="ctr">
                      <a:solidFill>
                        <a:srgbClr val="E3E8ED"/>
                      </a:solidFill>
                      <a:prstDash val="solid"/>
                      <a:round/>
                      <a:headEnd type="none" w="med" len="med"/>
                      <a:tailEnd type="none" w="med" len="med"/>
                    </a:lnT>
                    <a:lnB w="12700" cap="flat" cmpd="sng" algn="ctr">
                      <a:solidFill>
                        <a:srgbClr val="E3E8E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66928" y="571500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6" name="Text 3"/>
          <p:cNvSpPr txBox="1"/>
          <p:nvPr/>
        </p:nvSpPr>
        <p:spPr>
          <a:xfrm>
            <a:off x="795528" y="582472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₹2.67 L already lost and ₹7.92 L recoverable, on 251 orders in a single run. At 50,000 orders a day the same ratios are the difference between a profitable quarter and an unprofitable one.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What We Would Not Claim</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Stated upfront, because the method generalises and the numbers do not</a:t>
            </a:r>
            <a:endParaRPr lang="en-US" sz="1400" dirty="0"/>
          </a:p>
        </p:txBody>
      </p:sp>
      <p:sp>
        <p:nvSpPr>
          <p:cNvPr id="4" name="Shape 2"/>
          <p:cNvSpPr/>
          <p:nvPr/>
        </p:nvSpPr>
        <p:spPr>
          <a:xfrm>
            <a:off x="566928" y="1563624"/>
            <a:ext cx="384048" cy="384048"/>
          </a:xfrm>
          <a:prstGeom prst="ellipse">
            <a:avLst/>
          </a:prstGeom>
          <a:solidFill>
            <a:srgbClr val="E9A13B"/>
          </a:solidFill>
          <a:ln w="12700">
            <a:solidFill>
              <a:srgbClr val="E9A13B"/>
            </a:solidFill>
            <a:prstDash val="solid"/>
          </a:ln>
        </p:spPr>
        <p:txBody>
          <a:bodyPr/>
          <a:lstStyle/>
          <a:p>
            <a:endParaRPr lang="en-IN"/>
          </a:p>
        </p:txBody>
      </p:sp>
      <p:sp>
        <p:nvSpPr>
          <p:cNvPr id="5" name="Text 3"/>
          <p:cNvSpPr txBox="1"/>
          <p:nvPr/>
        </p:nvSpPr>
        <p:spPr>
          <a:xfrm>
            <a:off x="566928" y="1627632"/>
            <a:ext cx="384048" cy="274320"/>
          </a:xfrm>
          <a:prstGeom prst="rect">
            <a:avLst/>
          </a:prstGeom>
          <a:noFill/>
          <a:ln/>
        </p:spPr>
        <p:txBody>
          <a:bodyPr wrap="square" lIns="0" tIns="0" rIns="0" bIns="0" rtlCol="0" anchor="ctr"/>
          <a:lstStyle/>
          <a:p>
            <a:pPr marL="0" indent="0" algn="ctr">
              <a:buNone/>
            </a:pPr>
            <a:r>
              <a:rPr lang="en-US" sz="1300" b="1" dirty="0">
                <a:solidFill>
                  <a:srgbClr val="12263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33856" y="1508760"/>
            <a:ext cx="10424160" cy="292608"/>
          </a:xfrm>
          <a:prstGeom prst="rect">
            <a:avLst/>
          </a:prstGeom>
          <a:noFill/>
          <a:ln/>
        </p:spPr>
        <p:txBody>
          <a:bodyPr wrap="square" lIns="0" tIns="0" rIns="0" bIns="0" rtlCol="0" anchor="ctr"/>
          <a:lstStyle/>
          <a:p>
            <a:pPr marL="0" indent="0">
              <a:buNone/>
            </a:pPr>
            <a:r>
              <a:rPr lang="en-US" sz="1600" b="1" dirty="0">
                <a:solidFill>
                  <a:srgbClr val="12263F"/>
                </a:solidFill>
                <a:latin typeface="Calibri" pitchFamily="34" charset="0"/>
                <a:ea typeface="Calibri" pitchFamily="34" charset="-122"/>
                <a:cs typeface="Calibri" pitchFamily="34" charset="-120"/>
              </a:rPr>
              <a:t>Simulated, not production data</a:t>
            </a:r>
            <a:endParaRPr lang="en-US" sz="1600" dirty="0"/>
          </a:p>
        </p:txBody>
      </p:sp>
      <p:sp>
        <p:nvSpPr>
          <p:cNvPr id="7" name="Text 5"/>
          <p:cNvSpPr txBox="1"/>
          <p:nvPr/>
        </p:nvSpPr>
        <p:spPr>
          <a:xfrm>
            <a:off x="1133856" y="1819656"/>
            <a:ext cx="10424160" cy="566928"/>
          </a:xfrm>
          <a:prstGeom prst="rect">
            <a:avLst/>
          </a:prstGeom>
          <a:noFill/>
          <a:ln/>
        </p:spPr>
        <p:txBody>
          <a:bodyPr wrap="square" lIns="0" tIns="0" rIns="0" bIns="0" rtlCol="0" anchor="ctr"/>
          <a:lstStyle/>
          <a:p>
            <a:pPr marL="0" indent="0">
              <a:buNone/>
            </a:pPr>
            <a:r>
              <a:rPr lang="en-US" sz="1300" dirty="0">
                <a:solidFill>
                  <a:srgbClr val="33465C"/>
                </a:solidFill>
                <a:latin typeface="Calibri" pitchFamily="34" charset="0"/>
                <a:ea typeface="Calibri" pitchFamily="34" charset="-122"/>
                <a:cs typeface="Calibri" pitchFamily="34" charset="-120"/>
              </a:rPr>
              <a:t>The pipeline is real — topics, partitioning, consumer groups, offset behaviour and the cross-system joins are exactly what production would use. The traffic is generated.</a:t>
            </a:r>
            <a:endParaRPr lang="en-US" sz="1300" dirty="0"/>
          </a:p>
        </p:txBody>
      </p:sp>
      <p:sp>
        <p:nvSpPr>
          <p:cNvPr id="8" name="Shape 6"/>
          <p:cNvSpPr/>
          <p:nvPr/>
        </p:nvSpPr>
        <p:spPr>
          <a:xfrm>
            <a:off x="566928" y="2596896"/>
            <a:ext cx="384048" cy="384048"/>
          </a:xfrm>
          <a:prstGeom prst="ellipse">
            <a:avLst/>
          </a:prstGeom>
          <a:solidFill>
            <a:srgbClr val="E9A13B"/>
          </a:solidFill>
          <a:ln w="12700">
            <a:solidFill>
              <a:srgbClr val="E9A13B"/>
            </a:solidFill>
            <a:prstDash val="solid"/>
          </a:ln>
        </p:spPr>
        <p:txBody>
          <a:bodyPr/>
          <a:lstStyle/>
          <a:p>
            <a:endParaRPr lang="en-IN"/>
          </a:p>
        </p:txBody>
      </p:sp>
      <p:sp>
        <p:nvSpPr>
          <p:cNvPr id="9" name="Text 7"/>
          <p:cNvSpPr txBox="1"/>
          <p:nvPr/>
        </p:nvSpPr>
        <p:spPr>
          <a:xfrm>
            <a:off x="566928" y="2660904"/>
            <a:ext cx="384048" cy="274320"/>
          </a:xfrm>
          <a:prstGeom prst="rect">
            <a:avLst/>
          </a:prstGeom>
          <a:noFill/>
          <a:ln/>
        </p:spPr>
        <p:txBody>
          <a:bodyPr wrap="square" lIns="0" tIns="0" rIns="0" bIns="0" rtlCol="0" anchor="ctr"/>
          <a:lstStyle/>
          <a:p>
            <a:pPr marL="0" indent="0" algn="ctr">
              <a:buNone/>
            </a:pPr>
            <a:r>
              <a:rPr lang="en-US" sz="1300" b="1" dirty="0">
                <a:solidFill>
                  <a:srgbClr val="12263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33856" y="2542032"/>
            <a:ext cx="10424160" cy="292608"/>
          </a:xfrm>
          <a:prstGeom prst="rect">
            <a:avLst/>
          </a:prstGeom>
          <a:noFill/>
          <a:ln/>
        </p:spPr>
        <p:txBody>
          <a:bodyPr wrap="square" lIns="0" tIns="0" rIns="0" bIns="0" rtlCol="0" anchor="ctr"/>
          <a:lstStyle/>
          <a:p>
            <a:pPr marL="0" indent="0">
              <a:buNone/>
            </a:pPr>
            <a:r>
              <a:rPr lang="en-US" sz="1600" b="1" dirty="0">
                <a:solidFill>
                  <a:srgbClr val="12263F"/>
                </a:solidFill>
                <a:latin typeface="Calibri" pitchFamily="34" charset="0"/>
                <a:ea typeface="Calibri" pitchFamily="34" charset="-122"/>
                <a:cs typeface="Calibri" pitchFamily="34" charset="-120"/>
              </a:rPr>
              <a:t>Compressed clock</a:t>
            </a:r>
            <a:endParaRPr lang="en-US" sz="1600" dirty="0"/>
          </a:p>
        </p:txBody>
      </p:sp>
      <p:sp>
        <p:nvSpPr>
          <p:cNvPr id="11" name="Text 9"/>
          <p:cNvSpPr txBox="1"/>
          <p:nvPr/>
        </p:nvSpPr>
        <p:spPr>
          <a:xfrm>
            <a:off x="1133856" y="2852928"/>
            <a:ext cx="10424160" cy="566928"/>
          </a:xfrm>
          <a:prstGeom prst="rect">
            <a:avLst/>
          </a:prstGeom>
          <a:noFill/>
          <a:ln/>
        </p:spPr>
        <p:txBody>
          <a:bodyPr wrap="square" lIns="0" tIns="0" rIns="0" bIns="0" rtlCol="0" anchor="ctr"/>
          <a:lstStyle/>
          <a:p>
            <a:pPr marL="0" indent="0">
              <a:buNone/>
            </a:pPr>
            <a:r>
              <a:rPr lang="en-US" sz="1300" dirty="0">
                <a:solidFill>
                  <a:srgbClr val="33465C"/>
                </a:solidFill>
                <a:latin typeface="Calibri" pitchFamily="34" charset="0"/>
                <a:ea typeface="Calibri" pitchFamily="34" charset="-122"/>
                <a:cs typeface="Calibri" pitchFamily="34" charset="-120"/>
              </a:rPr>
              <a:t>Lifecycles run at a speed multiplier, so latency figures are in seconds of simulated time. Their ratios carry meaning; their absolute values do not.</a:t>
            </a:r>
            <a:endParaRPr lang="en-US" sz="1300" dirty="0"/>
          </a:p>
        </p:txBody>
      </p:sp>
      <p:sp>
        <p:nvSpPr>
          <p:cNvPr id="12" name="Shape 10"/>
          <p:cNvSpPr/>
          <p:nvPr/>
        </p:nvSpPr>
        <p:spPr>
          <a:xfrm>
            <a:off x="566928" y="3630168"/>
            <a:ext cx="384048" cy="384048"/>
          </a:xfrm>
          <a:prstGeom prst="ellipse">
            <a:avLst/>
          </a:prstGeom>
          <a:solidFill>
            <a:srgbClr val="E9A13B"/>
          </a:solidFill>
          <a:ln w="12700">
            <a:solidFill>
              <a:srgbClr val="E9A13B"/>
            </a:solidFill>
            <a:prstDash val="solid"/>
          </a:ln>
        </p:spPr>
        <p:txBody>
          <a:bodyPr/>
          <a:lstStyle/>
          <a:p>
            <a:endParaRPr lang="en-IN"/>
          </a:p>
        </p:txBody>
      </p:sp>
      <p:sp>
        <p:nvSpPr>
          <p:cNvPr id="13" name="Text 11"/>
          <p:cNvSpPr txBox="1"/>
          <p:nvPr/>
        </p:nvSpPr>
        <p:spPr>
          <a:xfrm>
            <a:off x="566928" y="3694176"/>
            <a:ext cx="384048" cy="274320"/>
          </a:xfrm>
          <a:prstGeom prst="rect">
            <a:avLst/>
          </a:prstGeom>
          <a:noFill/>
          <a:ln/>
        </p:spPr>
        <p:txBody>
          <a:bodyPr wrap="square" lIns="0" tIns="0" rIns="0" bIns="0" rtlCol="0" anchor="ctr"/>
          <a:lstStyle/>
          <a:p>
            <a:pPr marL="0" indent="0" algn="ctr">
              <a:buNone/>
            </a:pPr>
            <a:r>
              <a:rPr lang="en-US" sz="1300" b="1" dirty="0">
                <a:solidFill>
                  <a:srgbClr val="12263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33856" y="3575304"/>
            <a:ext cx="10424160" cy="292608"/>
          </a:xfrm>
          <a:prstGeom prst="rect">
            <a:avLst/>
          </a:prstGeom>
          <a:noFill/>
          <a:ln/>
        </p:spPr>
        <p:txBody>
          <a:bodyPr wrap="square" lIns="0" tIns="0" rIns="0" bIns="0" rtlCol="0" anchor="ctr"/>
          <a:lstStyle/>
          <a:p>
            <a:pPr marL="0" indent="0">
              <a:buNone/>
            </a:pPr>
            <a:r>
              <a:rPr lang="en-US" sz="1600" b="1" dirty="0">
                <a:solidFill>
                  <a:srgbClr val="12263F"/>
                </a:solidFill>
                <a:latin typeface="Calibri" pitchFamily="34" charset="0"/>
                <a:ea typeface="Calibri" pitchFamily="34" charset="-122"/>
                <a:cs typeface="Calibri" pitchFamily="34" charset="-120"/>
              </a:rPr>
              <a:t>Elevated fraud rate</a:t>
            </a:r>
            <a:endParaRPr lang="en-US" sz="1600" dirty="0"/>
          </a:p>
        </p:txBody>
      </p:sp>
      <p:sp>
        <p:nvSpPr>
          <p:cNvPr id="15" name="Text 13"/>
          <p:cNvSpPr txBox="1"/>
          <p:nvPr/>
        </p:nvSpPr>
        <p:spPr>
          <a:xfrm>
            <a:off x="1133856" y="3886200"/>
            <a:ext cx="10424160" cy="566928"/>
          </a:xfrm>
          <a:prstGeom prst="rect">
            <a:avLst/>
          </a:prstGeom>
          <a:noFill/>
          <a:ln/>
        </p:spPr>
        <p:txBody>
          <a:bodyPr wrap="square" lIns="0" tIns="0" rIns="0" bIns="0" rtlCol="0" anchor="ctr"/>
          <a:lstStyle/>
          <a:p>
            <a:pPr marL="0" indent="0">
              <a:buNone/>
            </a:pPr>
            <a:r>
              <a:rPr lang="en-US" sz="1300" dirty="0">
                <a:solidFill>
                  <a:srgbClr val="33465C"/>
                </a:solidFill>
                <a:latin typeface="Calibri" pitchFamily="34" charset="0"/>
                <a:ea typeface="Calibri" pitchFamily="34" charset="-122"/>
                <a:cs typeface="Calibri" pitchFamily="34" charset="-120"/>
              </a:rPr>
              <a:t>Fraud is deliberately seeded well above a real platform's rate so the detection behaviour is observable in a ten-minute window.</a:t>
            </a:r>
            <a:endParaRPr lang="en-US" sz="1300" dirty="0"/>
          </a:p>
        </p:txBody>
      </p:sp>
      <p:sp>
        <p:nvSpPr>
          <p:cNvPr id="16" name="Shape 14"/>
          <p:cNvSpPr/>
          <p:nvPr/>
        </p:nvSpPr>
        <p:spPr>
          <a:xfrm>
            <a:off x="566928" y="4663440"/>
            <a:ext cx="384048" cy="384048"/>
          </a:xfrm>
          <a:prstGeom prst="ellipse">
            <a:avLst/>
          </a:prstGeom>
          <a:solidFill>
            <a:srgbClr val="E9A13B"/>
          </a:solidFill>
          <a:ln w="12700">
            <a:solidFill>
              <a:srgbClr val="E9A13B"/>
            </a:solidFill>
            <a:prstDash val="solid"/>
          </a:ln>
        </p:spPr>
        <p:txBody>
          <a:bodyPr/>
          <a:lstStyle/>
          <a:p>
            <a:endParaRPr lang="en-IN"/>
          </a:p>
        </p:txBody>
      </p:sp>
      <p:sp>
        <p:nvSpPr>
          <p:cNvPr id="17" name="Text 15"/>
          <p:cNvSpPr txBox="1"/>
          <p:nvPr/>
        </p:nvSpPr>
        <p:spPr>
          <a:xfrm>
            <a:off x="566928" y="4727448"/>
            <a:ext cx="384048" cy="274320"/>
          </a:xfrm>
          <a:prstGeom prst="rect">
            <a:avLst/>
          </a:prstGeom>
          <a:noFill/>
          <a:ln/>
        </p:spPr>
        <p:txBody>
          <a:bodyPr wrap="square" lIns="0" tIns="0" rIns="0" bIns="0" rtlCol="0" anchor="ctr"/>
          <a:lstStyle/>
          <a:p>
            <a:pPr marL="0" indent="0" algn="ctr">
              <a:buNone/>
            </a:pPr>
            <a:r>
              <a:rPr lang="en-US" sz="1300" b="1" dirty="0">
                <a:solidFill>
                  <a:srgbClr val="12263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133856" y="4608576"/>
            <a:ext cx="10424160" cy="292608"/>
          </a:xfrm>
          <a:prstGeom prst="rect">
            <a:avLst/>
          </a:prstGeom>
          <a:noFill/>
          <a:ln/>
        </p:spPr>
        <p:txBody>
          <a:bodyPr wrap="square" lIns="0" tIns="0" rIns="0" bIns="0" rtlCol="0" anchor="ctr"/>
          <a:lstStyle/>
          <a:p>
            <a:pPr marL="0" indent="0">
              <a:buNone/>
            </a:pPr>
            <a:r>
              <a:rPr lang="en-US" sz="1600" b="1" dirty="0">
                <a:solidFill>
                  <a:srgbClr val="12263F"/>
                </a:solidFill>
                <a:latin typeface="Calibri" pitchFamily="34" charset="0"/>
                <a:ea typeface="Calibri" pitchFamily="34" charset="-122"/>
                <a:cs typeface="Calibri" pitchFamily="34" charset="-120"/>
              </a:rPr>
              <a:t>Single broker locally</a:t>
            </a:r>
            <a:endParaRPr lang="en-US" sz="1600" dirty="0"/>
          </a:p>
        </p:txBody>
      </p:sp>
      <p:sp>
        <p:nvSpPr>
          <p:cNvPr id="19" name="Text 17"/>
          <p:cNvSpPr txBox="1"/>
          <p:nvPr/>
        </p:nvSpPr>
        <p:spPr>
          <a:xfrm>
            <a:off x="1133856" y="4919472"/>
            <a:ext cx="10424160" cy="566928"/>
          </a:xfrm>
          <a:prstGeom prst="rect">
            <a:avLst/>
          </a:prstGeom>
          <a:noFill/>
          <a:ln/>
        </p:spPr>
        <p:txBody>
          <a:bodyPr wrap="square" lIns="0" tIns="0" rIns="0" bIns="0" rtlCol="0" anchor="ctr"/>
          <a:lstStyle/>
          <a:p>
            <a:pPr marL="0" indent="0">
              <a:buNone/>
            </a:pPr>
            <a:r>
              <a:rPr lang="en-US" sz="1300" dirty="0">
                <a:solidFill>
                  <a:srgbClr val="33465C"/>
                </a:solidFill>
                <a:latin typeface="Calibri" pitchFamily="34" charset="0"/>
                <a:ea typeface="Calibri" pitchFamily="34" charset="-122"/>
                <a:cs typeface="Calibri" pitchFamily="34" charset="-120"/>
              </a:rPr>
              <a:t>Replication factor 1 on the demo machine; the production design specifies 3.</a:t>
            </a:r>
            <a:endParaRPr lang="en-US" sz="1300" dirty="0"/>
          </a:p>
        </p:txBody>
      </p:sp>
      <p:sp>
        <p:nvSpPr>
          <p:cNvPr id="20" name="Shape 18"/>
          <p:cNvSpPr/>
          <p:nvPr/>
        </p:nvSpPr>
        <p:spPr>
          <a:xfrm>
            <a:off x="566928" y="580644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21" name="Text 19"/>
          <p:cNvSpPr txBox="1"/>
          <p:nvPr/>
        </p:nvSpPr>
        <p:spPr>
          <a:xfrm>
            <a:off x="795528" y="591616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The engineering claim is the pipeline and the joins. The business figures demonstrate what those joins make visible — not a forecast of a real platform.</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47472"/>
            <a:ext cx="11064240" cy="566928"/>
          </a:xfrm>
          <a:prstGeom prst="rect">
            <a:avLst/>
          </a:prstGeom>
          <a:noFill/>
          <a:ln/>
        </p:spPr>
        <p:txBody>
          <a:bodyPr wrap="square" lIns="0" tIns="0" rIns="0" bIns="0" rtlCol="0" anchor="ctr"/>
          <a:lstStyle/>
          <a:p>
            <a:pPr marL="0" indent="0">
              <a:buNone/>
            </a:pPr>
            <a:r>
              <a:rPr lang="en-US" sz="3000" b="1" dirty="0">
                <a:solidFill>
                  <a:srgbClr val="12263F"/>
                </a:solidFill>
                <a:latin typeface="Cambria" pitchFamily="34" charset="0"/>
                <a:ea typeface="Cambria" pitchFamily="34" charset="-122"/>
                <a:cs typeface="Cambria" pitchFamily="34" charset="-120"/>
              </a:rPr>
              <a:t>Roadmap</a:t>
            </a:r>
            <a:endParaRPr lang="en-US" sz="3000" dirty="0"/>
          </a:p>
        </p:txBody>
      </p:sp>
      <p:sp>
        <p:nvSpPr>
          <p:cNvPr id="3" name="Text 1"/>
          <p:cNvSpPr txBox="1"/>
          <p:nvPr/>
        </p:nvSpPr>
        <p:spPr>
          <a:xfrm>
            <a:off x="566928" y="932688"/>
            <a:ext cx="11064240" cy="365760"/>
          </a:xfrm>
          <a:prstGeom prst="rect">
            <a:avLst/>
          </a:prstGeom>
          <a:noFill/>
          <a:ln/>
        </p:spPr>
        <p:txBody>
          <a:bodyPr wrap="square" lIns="0" tIns="0" rIns="0" bIns="0" rtlCol="0" anchor="ctr"/>
          <a:lstStyle/>
          <a:p>
            <a:pPr marL="0" indent="0">
              <a:buNone/>
            </a:pPr>
            <a:r>
              <a:rPr lang="en-US" sz="1400" dirty="0">
                <a:solidFill>
                  <a:srgbClr val="6B7A8C"/>
                </a:solidFill>
                <a:latin typeface="Calibri" pitchFamily="34" charset="0"/>
                <a:ea typeface="Calibri" pitchFamily="34" charset="-122"/>
                <a:cs typeface="Calibri" pitchFamily="34" charset="-120"/>
              </a:rPr>
              <a:t>Three changes, in the order we would make them</a:t>
            </a:r>
            <a:endParaRPr lang="en-US" sz="1400" dirty="0"/>
          </a:p>
        </p:txBody>
      </p:sp>
      <p:sp>
        <p:nvSpPr>
          <p:cNvPr id="4" name="Shape 2"/>
          <p:cNvSpPr/>
          <p:nvPr/>
        </p:nvSpPr>
        <p:spPr>
          <a:xfrm>
            <a:off x="566928" y="1600200"/>
            <a:ext cx="3520440" cy="3200400"/>
          </a:xfrm>
          <a:prstGeom prst="roundRect">
            <a:avLst>
              <a:gd name="adj" fmla="val 2286"/>
            </a:avLst>
          </a:prstGeom>
          <a:solidFill>
            <a:srgbClr val="F4F6F8"/>
          </a:solidFill>
          <a:ln w="12700">
            <a:solidFill>
              <a:srgbClr val="F4F6F8"/>
            </a:solidFill>
            <a:prstDash val="solid"/>
          </a:ln>
        </p:spPr>
        <p:txBody>
          <a:bodyPr/>
          <a:lstStyle/>
          <a:p>
            <a:endParaRPr lang="en-IN"/>
          </a:p>
        </p:txBody>
      </p:sp>
      <p:sp>
        <p:nvSpPr>
          <p:cNvPr id="5" name="Shape 3"/>
          <p:cNvSpPr/>
          <p:nvPr/>
        </p:nvSpPr>
        <p:spPr>
          <a:xfrm>
            <a:off x="841248" y="1874520"/>
            <a:ext cx="548640" cy="548640"/>
          </a:xfrm>
          <a:prstGeom prst="ellipse">
            <a:avLst/>
          </a:prstGeom>
          <a:solidFill>
            <a:srgbClr val="11828A"/>
          </a:solidFill>
          <a:ln w="12700">
            <a:solidFill>
              <a:srgbClr val="11828A"/>
            </a:solidFill>
            <a:prstDash val="solid"/>
          </a:ln>
        </p:spPr>
        <p:txBody>
          <a:bodyPr/>
          <a:lstStyle/>
          <a:p>
            <a:endParaRPr lang="en-IN"/>
          </a:p>
        </p:txBody>
      </p:sp>
      <p:sp>
        <p:nvSpPr>
          <p:cNvPr id="6" name="Text 4"/>
          <p:cNvSpPr txBox="1"/>
          <p:nvPr/>
        </p:nvSpPr>
        <p:spPr>
          <a:xfrm>
            <a:off x="841248" y="1984248"/>
            <a:ext cx="5486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841248" y="2578608"/>
            <a:ext cx="3017520" cy="365760"/>
          </a:xfrm>
          <a:prstGeom prst="rect">
            <a:avLst/>
          </a:prstGeom>
          <a:noFill/>
          <a:ln/>
        </p:spPr>
        <p:txBody>
          <a:bodyPr wrap="square" lIns="0" tIns="0" rIns="0" bIns="0" rtlCol="0" anchor="ctr"/>
          <a:lstStyle/>
          <a:p>
            <a:pPr marL="0" indent="0">
              <a:buNone/>
            </a:pPr>
            <a:r>
              <a:rPr lang="en-US" sz="1700" b="1" dirty="0">
                <a:solidFill>
                  <a:srgbClr val="12263F"/>
                </a:solidFill>
                <a:latin typeface="Calibri" pitchFamily="34" charset="0"/>
                <a:ea typeface="Calibri" pitchFamily="34" charset="-122"/>
                <a:cs typeface="Calibri" pitchFamily="34" charset="-120"/>
              </a:rPr>
              <a:t>Kafka Streams</a:t>
            </a:r>
            <a:endParaRPr lang="en-US" sz="1700" dirty="0"/>
          </a:p>
        </p:txBody>
      </p:sp>
      <p:sp>
        <p:nvSpPr>
          <p:cNvPr id="8" name="Text 6"/>
          <p:cNvSpPr txBox="1"/>
          <p:nvPr/>
        </p:nvSpPr>
        <p:spPr>
          <a:xfrm>
            <a:off x="841248" y="2999232"/>
            <a:ext cx="3017520" cy="164592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Move windowed aggregation out of our own consumer state and into the framework. Today a restarted consumer rebuilds its counters; Streams would make that durable.</a:t>
            </a:r>
            <a:endParaRPr lang="en-US" sz="1250" dirty="0"/>
          </a:p>
        </p:txBody>
      </p:sp>
      <p:sp>
        <p:nvSpPr>
          <p:cNvPr id="9" name="Shape 7"/>
          <p:cNvSpPr/>
          <p:nvPr/>
        </p:nvSpPr>
        <p:spPr>
          <a:xfrm>
            <a:off x="4315968" y="1600200"/>
            <a:ext cx="3520440" cy="3200400"/>
          </a:xfrm>
          <a:prstGeom prst="roundRect">
            <a:avLst>
              <a:gd name="adj" fmla="val 2286"/>
            </a:avLst>
          </a:prstGeom>
          <a:solidFill>
            <a:srgbClr val="F4F6F8"/>
          </a:solidFill>
          <a:ln w="12700">
            <a:solidFill>
              <a:srgbClr val="F4F6F8"/>
            </a:solidFill>
            <a:prstDash val="solid"/>
          </a:ln>
        </p:spPr>
        <p:txBody>
          <a:bodyPr/>
          <a:lstStyle/>
          <a:p>
            <a:endParaRPr lang="en-IN"/>
          </a:p>
        </p:txBody>
      </p:sp>
      <p:sp>
        <p:nvSpPr>
          <p:cNvPr id="10" name="Shape 8"/>
          <p:cNvSpPr/>
          <p:nvPr/>
        </p:nvSpPr>
        <p:spPr>
          <a:xfrm>
            <a:off x="4590288" y="1874520"/>
            <a:ext cx="548640" cy="548640"/>
          </a:xfrm>
          <a:prstGeom prst="ellipse">
            <a:avLst/>
          </a:prstGeom>
          <a:solidFill>
            <a:srgbClr val="11828A"/>
          </a:solidFill>
          <a:ln w="12700">
            <a:solidFill>
              <a:srgbClr val="11828A"/>
            </a:solidFill>
            <a:prstDash val="solid"/>
          </a:ln>
        </p:spPr>
        <p:txBody>
          <a:bodyPr/>
          <a:lstStyle/>
          <a:p>
            <a:endParaRPr lang="en-IN"/>
          </a:p>
        </p:txBody>
      </p:sp>
      <p:sp>
        <p:nvSpPr>
          <p:cNvPr id="11" name="Text 9"/>
          <p:cNvSpPr txBox="1"/>
          <p:nvPr/>
        </p:nvSpPr>
        <p:spPr>
          <a:xfrm>
            <a:off x="4590288" y="1984248"/>
            <a:ext cx="5486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4590288" y="2578608"/>
            <a:ext cx="3017520" cy="365760"/>
          </a:xfrm>
          <a:prstGeom prst="rect">
            <a:avLst/>
          </a:prstGeom>
          <a:noFill/>
          <a:ln/>
        </p:spPr>
        <p:txBody>
          <a:bodyPr wrap="square" lIns="0" tIns="0" rIns="0" bIns="0" rtlCol="0" anchor="ctr"/>
          <a:lstStyle/>
          <a:p>
            <a:pPr marL="0" indent="0">
              <a:buNone/>
            </a:pPr>
            <a:r>
              <a:rPr lang="en-US" sz="1700" b="1" dirty="0">
                <a:solidFill>
                  <a:srgbClr val="12263F"/>
                </a:solidFill>
                <a:latin typeface="Calibri" pitchFamily="34" charset="0"/>
                <a:ea typeface="Calibri" pitchFamily="34" charset="-122"/>
                <a:cs typeface="Calibri" pitchFamily="34" charset="-120"/>
              </a:rPr>
              <a:t>Schema registry</a:t>
            </a:r>
            <a:endParaRPr lang="en-US" sz="1700" dirty="0"/>
          </a:p>
        </p:txBody>
      </p:sp>
      <p:sp>
        <p:nvSpPr>
          <p:cNvPr id="13" name="Text 11"/>
          <p:cNvSpPr txBox="1"/>
          <p:nvPr/>
        </p:nvSpPr>
        <p:spPr>
          <a:xfrm>
            <a:off x="4590288" y="2999232"/>
            <a:ext cx="3017520" cy="164592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A producer renaming a field currently breaks a consumer silently. Contracts should be enforced at publish time, not discovered in a dashboard.</a:t>
            </a:r>
            <a:endParaRPr lang="en-US" sz="1250" dirty="0"/>
          </a:p>
        </p:txBody>
      </p:sp>
      <p:sp>
        <p:nvSpPr>
          <p:cNvPr id="14" name="Shape 12"/>
          <p:cNvSpPr/>
          <p:nvPr/>
        </p:nvSpPr>
        <p:spPr>
          <a:xfrm>
            <a:off x="8065008" y="1600200"/>
            <a:ext cx="3520440" cy="3200400"/>
          </a:xfrm>
          <a:prstGeom prst="roundRect">
            <a:avLst>
              <a:gd name="adj" fmla="val 2286"/>
            </a:avLst>
          </a:prstGeom>
          <a:solidFill>
            <a:srgbClr val="F4F6F8"/>
          </a:solidFill>
          <a:ln w="12700">
            <a:solidFill>
              <a:srgbClr val="F4F6F8"/>
            </a:solidFill>
            <a:prstDash val="solid"/>
          </a:ln>
        </p:spPr>
        <p:txBody>
          <a:bodyPr/>
          <a:lstStyle/>
          <a:p>
            <a:endParaRPr lang="en-IN"/>
          </a:p>
        </p:txBody>
      </p:sp>
      <p:sp>
        <p:nvSpPr>
          <p:cNvPr id="15" name="Shape 13"/>
          <p:cNvSpPr/>
          <p:nvPr/>
        </p:nvSpPr>
        <p:spPr>
          <a:xfrm>
            <a:off x="8339328" y="1874520"/>
            <a:ext cx="548640" cy="548640"/>
          </a:xfrm>
          <a:prstGeom prst="ellipse">
            <a:avLst/>
          </a:prstGeom>
          <a:solidFill>
            <a:srgbClr val="11828A"/>
          </a:solidFill>
          <a:ln w="12700">
            <a:solidFill>
              <a:srgbClr val="11828A"/>
            </a:solidFill>
            <a:prstDash val="solid"/>
          </a:ln>
        </p:spPr>
        <p:txBody>
          <a:bodyPr/>
          <a:lstStyle/>
          <a:p>
            <a:endParaRPr lang="en-IN"/>
          </a:p>
        </p:txBody>
      </p:sp>
      <p:sp>
        <p:nvSpPr>
          <p:cNvPr id="16" name="Text 14"/>
          <p:cNvSpPr txBox="1"/>
          <p:nvPr/>
        </p:nvSpPr>
        <p:spPr>
          <a:xfrm>
            <a:off x="8339328" y="1984248"/>
            <a:ext cx="5486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8339328" y="2578608"/>
            <a:ext cx="3017520" cy="365760"/>
          </a:xfrm>
          <a:prstGeom prst="rect">
            <a:avLst/>
          </a:prstGeom>
          <a:noFill/>
          <a:ln/>
        </p:spPr>
        <p:txBody>
          <a:bodyPr wrap="square" lIns="0" tIns="0" rIns="0" bIns="0" rtlCol="0" anchor="ctr"/>
          <a:lstStyle/>
          <a:p>
            <a:pPr marL="0" indent="0">
              <a:buNone/>
            </a:pPr>
            <a:r>
              <a:rPr lang="en-US" sz="1700" b="1" dirty="0">
                <a:solidFill>
                  <a:srgbClr val="12263F"/>
                </a:solidFill>
                <a:latin typeface="Calibri" pitchFamily="34" charset="0"/>
                <a:ea typeface="Calibri" pitchFamily="34" charset="-122"/>
                <a:cs typeface="Calibri" pitchFamily="34" charset="-120"/>
              </a:rPr>
              <a:t>Alerting as a service</a:t>
            </a:r>
            <a:endParaRPr lang="en-US" sz="1700" dirty="0"/>
          </a:p>
        </p:txBody>
      </p:sp>
      <p:sp>
        <p:nvSpPr>
          <p:cNvPr id="18" name="Text 16"/>
          <p:cNvSpPr txBox="1"/>
          <p:nvPr/>
        </p:nvSpPr>
        <p:spPr>
          <a:xfrm>
            <a:off x="8339328" y="2999232"/>
            <a:ext cx="3017520" cy="1645920"/>
          </a:xfrm>
          <a:prstGeom prst="rect">
            <a:avLst/>
          </a:prstGeom>
          <a:noFill/>
          <a:ln/>
        </p:spPr>
        <p:txBody>
          <a:bodyPr wrap="square" lIns="0" tIns="0" rIns="0" bIns="0" rtlCol="0" anchor="ctr"/>
          <a:lstStyle/>
          <a:p>
            <a:pPr marL="0" indent="0">
              <a:buNone/>
            </a:pPr>
            <a:r>
              <a:rPr lang="en-US" sz="1250" dirty="0">
                <a:solidFill>
                  <a:srgbClr val="33465C"/>
                </a:solidFill>
                <a:latin typeface="Calibri" pitchFamily="34" charset="0"/>
                <a:ea typeface="Calibri" pitchFamily="34" charset="-122"/>
                <a:cs typeface="Calibri" pitchFamily="34" charset="-120"/>
              </a:rPr>
              <a:t>231 open alerts live on a dashboard. A manager should not have to be looking at a screen for a stock-out to reach them — route HIGH severity to the on-call channel.</a:t>
            </a:r>
            <a:endParaRPr lang="en-US" sz="1250" dirty="0"/>
          </a:p>
        </p:txBody>
      </p:sp>
      <p:sp>
        <p:nvSpPr>
          <p:cNvPr id="19" name="Shape 17"/>
          <p:cNvSpPr/>
          <p:nvPr/>
        </p:nvSpPr>
        <p:spPr>
          <a:xfrm>
            <a:off x="566928" y="5074920"/>
            <a:ext cx="11064240" cy="713232"/>
          </a:xfrm>
          <a:prstGeom prst="roundRect">
            <a:avLst>
              <a:gd name="adj" fmla="val 10256"/>
            </a:avLst>
          </a:prstGeom>
          <a:solidFill>
            <a:srgbClr val="12263F"/>
          </a:solidFill>
          <a:ln w="12700">
            <a:solidFill>
              <a:srgbClr val="12263F"/>
            </a:solidFill>
            <a:prstDash val="solid"/>
          </a:ln>
        </p:spPr>
        <p:txBody>
          <a:bodyPr/>
          <a:lstStyle/>
          <a:p>
            <a:endParaRPr lang="en-IN"/>
          </a:p>
        </p:txBody>
      </p:sp>
      <p:sp>
        <p:nvSpPr>
          <p:cNvPr id="20" name="Text 18"/>
          <p:cNvSpPr txBox="1"/>
          <p:nvPr/>
        </p:nvSpPr>
        <p:spPr>
          <a:xfrm>
            <a:off x="795528" y="5184648"/>
            <a:ext cx="10607040" cy="502920"/>
          </a:xfrm>
          <a:prstGeom prst="rect">
            <a:avLst/>
          </a:prstGeom>
          <a:noFill/>
          <a:ln/>
        </p:spPr>
        <p:txBody>
          <a:bodyPr wrap="square" lIns="0" tIns="0" rIns="0" bIns="0" rtlCol="0" anchor="ctr"/>
          <a:lstStyle/>
          <a:p>
            <a:pPr marL="0" indent="0">
              <a:buNone/>
            </a:pPr>
            <a:r>
              <a:rPr lang="en-US" sz="1100" b="1" dirty="0">
                <a:solidFill>
                  <a:srgbClr val="E9A13B"/>
                </a:solidFill>
                <a:latin typeface="Calibri" pitchFamily="34" charset="0"/>
                <a:ea typeface="Calibri" pitchFamily="34" charset="-122"/>
                <a:cs typeface="Calibri" pitchFamily="34" charset="-120"/>
              </a:rPr>
              <a:t>SO WHAT   </a:t>
            </a:r>
            <a:r>
              <a:rPr lang="en-US" sz="1300" dirty="0">
                <a:solidFill>
                  <a:srgbClr val="FFFFFF"/>
                </a:solidFill>
                <a:latin typeface="Calibri" pitchFamily="34" charset="0"/>
                <a:ea typeface="Calibri" pitchFamily="34" charset="-122"/>
                <a:cs typeface="Calibri" pitchFamily="34" charset="-120"/>
              </a:rPr>
              <a:t>The platform answers what happened and why, live. The next step is making it act without a human watching.</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12263F"/>
        </a:solidFill>
        <a:effectLst/>
      </p:bgPr>
    </p:bg>
    <p:spTree>
      <p:nvGrpSpPr>
        <p:cNvPr id="1" name=""/>
        <p:cNvGrpSpPr/>
        <p:nvPr/>
      </p:nvGrpSpPr>
      <p:grpSpPr>
        <a:xfrm>
          <a:off x="0" y="0"/>
          <a:ext cx="0" cy="0"/>
          <a:chOff x="0" y="0"/>
          <a:chExt cx="0" cy="0"/>
        </a:xfrm>
      </p:grpSpPr>
      <p:sp>
        <p:nvSpPr>
          <p:cNvPr id="2" name="Text 0"/>
          <p:cNvSpPr txBox="1"/>
          <p:nvPr/>
        </p:nvSpPr>
        <p:spPr>
          <a:xfrm>
            <a:off x="566928" y="2286000"/>
            <a:ext cx="10058400" cy="365760"/>
          </a:xfrm>
          <a:prstGeom prst="rect">
            <a:avLst/>
          </a:prstGeom>
          <a:noFill/>
          <a:ln/>
        </p:spPr>
        <p:txBody>
          <a:bodyPr wrap="square" rtlCol="0" anchor="ctr"/>
          <a:lstStyle/>
          <a:p>
            <a:pPr marL="0" indent="0">
              <a:buNone/>
            </a:pPr>
            <a:r>
              <a:rPr lang="en-US" sz="1400" b="1" kern="0" spc="200" dirty="0">
                <a:solidFill>
                  <a:srgbClr val="E9A13B"/>
                </a:solidFill>
                <a:latin typeface="Calibri" pitchFamily="34" charset="0"/>
                <a:ea typeface="Calibri" pitchFamily="34" charset="-122"/>
                <a:cs typeface="Calibri" pitchFamily="34" charset="-120"/>
              </a:rPr>
              <a:t>IN CLOSING</a:t>
            </a:r>
            <a:endParaRPr lang="en-US" sz="1400" dirty="0"/>
          </a:p>
        </p:txBody>
      </p:sp>
      <p:sp>
        <p:nvSpPr>
          <p:cNvPr id="3" name="Text 1"/>
          <p:cNvSpPr txBox="1"/>
          <p:nvPr/>
        </p:nvSpPr>
        <p:spPr>
          <a:xfrm>
            <a:off x="566928" y="2697480"/>
            <a:ext cx="10515600" cy="11887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Three Sentences to Remember</a:t>
            </a:r>
            <a:endParaRPr lang="en-US" sz="4000" dirty="0"/>
          </a:p>
        </p:txBody>
      </p:sp>
      <p:sp>
        <p:nvSpPr>
          <p:cNvPr id="4" name="Shape 2"/>
          <p:cNvSpPr/>
          <p:nvPr/>
        </p:nvSpPr>
        <p:spPr>
          <a:xfrm>
            <a:off x="566928" y="4187952"/>
            <a:ext cx="164592" cy="164592"/>
          </a:xfrm>
          <a:prstGeom prst="ellipse">
            <a:avLst/>
          </a:prstGeom>
          <a:solidFill>
            <a:srgbClr val="E9A13B"/>
          </a:solidFill>
          <a:ln w="12700">
            <a:solidFill>
              <a:srgbClr val="E9A13B"/>
            </a:solidFill>
            <a:prstDash val="solid"/>
          </a:ln>
        </p:spPr>
        <p:txBody>
          <a:bodyPr/>
          <a:lstStyle/>
          <a:p>
            <a:endParaRPr lang="en-IN"/>
          </a:p>
        </p:txBody>
      </p:sp>
      <p:sp>
        <p:nvSpPr>
          <p:cNvPr id="5" name="Text 3"/>
          <p:cNvSpPr txBox="1"/>
          <p:nvPr/>
        </p:nvSpPr>
        <p:spPr>
          <a:xfrm>
            <a:off x="950976" y="4114800"/>
            <a:ext cx="10607040" cy="457200"/>
          </a:xfrm>
          <a:prstGeom prst="rect">
            <a:avLst/>
          </a:prstGeom>
          <a:noFill/>
          <a:ln/>
        </p:spPr>
        <p:txBody>
          <a:bodyPr wrap="square" lIns="0" tIns="0" rIns="0" bIns="0" rtlCol="0" anchor="ctr"/>
          <a:lstStyle/>
          <a:p>
            <a:pPr marL="0" indent="0">
              <a:buNone/>
            </a:pPr>
            <a:r>
              <a:rPr lang="en-US" sz="1500" dirty="0">
                <a:solidFill>
                  <a:srgbClr val="DCE6F0"/>
                </a:solidFill>
                <a:latin typeface="Calibri" pitchFamily="34" charset="0"/>
                <a:ea typeface="Calibri" pitchFamily="34" charset="-122"/>
                <a:cs typeface="Calibri" pitchFamily="34" charset="-120"/>
              </a:rPr>
              <a:t>Four systems that each produced a defensible dashboard — and a wrong conclusion.</a:t>
            </a:r>
            <a:endParaRPr lang="en-US" sz="1500" dirty="0"/>
          </a:p>
        </p:txBody>
      </p:sp>
      <p:sp>
        <p:nvSpPr>
          <p:cNvPr id="6" name="Shape 4"/>
          <p:cNvSpPr/>
          <p:nvPr/>
        </p:nvSpPr>
        <p:spPr>
          <a:xfrm>
            <a:off x="566928" y="4809744"/>
            <a:ext cx="164592" cy="164592"/>
          </a:xfrm>
          <a:prstGeom prst="ellipse">
            <a:avLst/>
          </a:prstGeom>
          <a:solidFill>
            <a:srgbClr val="E9A13B"/>
          </a:solidFill>
          <a:ln w="12700">
            <a:solidFill>
              <a:srgbClr val="E9A13B"/>
            </a:solidFill>
            <a:prstDash val="solid"/>
          </a:ln>
        </p:spPr>
        <p:txBody>
          <a:bodyPr/>
          <a:lstStyle/>
          <a:p>
            <a:endParaRPr lang="en-IN"/>
          </a:p>
        </p:txBody>
      </p:sp>
      <p:sp>
        <p:nvSpPr>
          <p:cNvPr id="7" name="Text 5"/>
          <p:cNvSpPr txBox="1"/>
          <p:nvPr/>
        </p:nvSpPr>
        <p:spPr>
          <a:xfrm>
            <a:off x="950976" y="4736592"/>
            <a:ext cx="10607040" cy="457200"/>
          </a:xfrm>
          <a:prstGeom prst="rect">
            <a:avLst/>
          </a:prstGeom>
          <a:noFill/>
          <a:ln/>
        </p:spPr>
        <p:txBody>
          <a:bodyPr wrap="square" lIns="0" tIns="0" rIns="0" bIns="0" rtlCol="0" anchor="ctr"/>
          <a:lstStyle/>
          <a:p>
            <a:pPr marL="0" indent="0">
              <a:buNone/>
            </a:pPr>
            <a:r>
              <a:rPr lang="en-US" sz="1500" dirty="0">
                <a:solidFill>
                  <a:srgbClr val="DCE6F0"/>
                </a:solidFill>
                <a:latin typeface="Calibri" pitchFamily="34" charset="0"/>
                <a:ea typeface="Calibri" pitchFamily="34" charset="-122"/>
                <a:cs typeface="Calibri" pitchFamily="34" charset="-120"/>
              </a:rPr>
              <a:t>Cart abandonment is detected by the absence of an event. Batch processing cannot express that at all.</a:t>
            </a:r>
            <a:endParaRPr lang="en-US" sz="1500" dirty="0"/>
          </a:p>
        </p:txBody>
      </p:sp>
      <p:sp>
        <p:nvSpPr>
          <p:cNvPr id="8" name="Shape 6"/>
          <p:cNvSpPr/>
          <p:nvPr/>
        </p:nvSpPr>
        <p:spPr>
          <a:xfrm>
            <a:off x="566928" y="5431536"/>
            <a:ext cx="164592" cy="164592"/>
          </a:xfrm>
          <a:prstGeom prst="ellipse">
            <a:avLst/>
          </a:prstGeom>
          <a:solidFill>
            <a:srgbClr val="E9A13B"/>
          </a:solidFill>
          <a:ln w="12700">
            <a:solidFill>
              <a:srgbClr val="E9A13B"/>
            </a:solidFill>
            <a:prstDash val="solid"/>
          </a:ln>
        </p:spPr>
        <p:txBody>
          <a:bodyPr/>
          <a:lstStyle/>
          <a:p>
            <a:endParaRPr lang="en-IN"/>
          </a:p>
        </p:txBody>
      </p:sp>
      <p:sp>
        <p:nvSpPr>
          <p:cNvPr id="9" name="Text 7"/>
          <p:cNvSpPr txBox="1"/>
          <p:nvPr/>
        </p:nvSpPr>
        <p:spPr>
          <a:xfrm>
            <a:off x="950976" y="5358384"/>
            <a:ext cx="10607040" cy="457200"/>
          </a:xfrm>
          <a:prstGeom prst="rect">
            <a:avLst/>
          </a:prstGeom>
          <a:noFill/>
          <a:ln/>
        </p:spPr>
        <p:txBody>
          <a:bodyPr wrap="square" lIns="0" tIns="0" rIns="0" bIns="0" rtlCol="0" anchor="ctr"/>
          <a:lstStyle/>
          <a:p>
            <a:pPr marL="0" indent="0">
              <a:buNone/>
            </a:pPr>
            <a:r>
              <a:rPr lang="en-US" sz="1500" dirty="0">
                <a:solidFill>
                  <a:srgbClr val="DCE6F0"/>
                </a:solidFill>
                <a:latin typeface="Calibri" pitchFamily="34" charset="0"/>
                <a:ea typeface="Calibri" pitchFamily="34" charset="-122"/>
                <a:cs typeface="Calibri" pitchFamily="34" charset="-120"/>
              </a:rPr>
              <a:t>₹2.67 L lost, split three ways, each share pointing at a different team.</a:t>
            </a:r>
            <a:endParaRPr lang="en-US" sz="1500" dirty="0"/>
          </a:p>
        </p:txBody>
      </p:sp>
      <p:sp>
        <p:nvSpPr>
          <p:cNvPr id="10" name="Text 8"/>
          <p:cNvSpPr txBox="1"/>
          <p:nvPr/>
        </p:nvSpPr>
        <p:spPr>
          <a:xfrm>
            <a:off x="566928" y="6035040"/>
            <a:ext cx="5486400" cy="365760"/>
          </a:xfrm>
          <a:prstGeom prst="rect">
            <a:avLst/>
          </a:prstGeom>
          <a:noFill/>
          <a:ln/>
        </p:spPr>
        <p:txBody>
          <a:bodyPr wrap="square" lIns="0" tIns="0" rIns="0" bIns="0" rtlCol="0" anchor="ctr"/>
          <a:lstStyle/>
          <a:p>
            <a:pPr marL="0" indent="0">
              <a:buNone/>
            </a:pPr>
            <a:r>
              <a:rPr lang="en-US" sz="2000" b="1" dirty="0">
                <a:solidFill>
                  <a:srgbClr val="E9A13B"/>
                </a:solidFill>
                <a:latin typeface="Cambria" pitchFamily="34" charset="0"/>
                <a:ea typeface="Cambria" pitchFamily="34" charset="-122"/>
                <a:cs typeface="Cambria"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2455</Words>
  <Application>Microsoft Office PowerPoint</Application>
  <PresentationFormat>Widescreen</PresentationFormat>
  <Paragraphs>280</Paragraphs>
  <Slides>17</Slides>
  <Notes>17</Notes>
  <HiddenSlides>6</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360° — Streaming Analytics</dc:title>
  <dc:subject>PptxGenJS Presentation</dc:subject>
  <dc:creator>Team — SDA-2</dc:creator>
  <cp:lastModifiedBy>Pancham Khullar</cp:lastModifiedBy>
  <cp:revision>2</cp:revision>
  <dcterms:created xsi:type="dcterms:W3CDTF">2026-10-02T02:51:18Z</dcterms:created>
  <dcterms:modified xsi:type="dcterms:W3CDTF">2026-10-02T06:11:36Z</dcterms:modified>
</cp:coreProperties>
</file>